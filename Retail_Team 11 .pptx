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A2B2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A2B2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D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16000" y="2211919"/>
            <a:ext cx="7327265" cy="5460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D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1011587"/>
            <a:ext cx="16256000" cy="726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4116" y="2409403"/>
            <a:ext cx="14643100" cy="611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A2B2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605" y="1937858"/>
            <a:ext cx="13557885" cy="1682750"/>
          </a:xfrm>
          <a:prstGeom prst="rect"/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7272020" algn="l"/>
                <a:tab pos="11976100" algn="l"/>
              </a:tabLst>
            </a:pPr>
            <a:r>
              <a:rPr dirty="0" sz="4700" spc="390">
                <a:solidFill>
                  <a:srgbClr val="2A2B2F"/>
                </a:solidFill>
              </a:rPr>
              <a:t>G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240">
                <a:solidFill>
                  <a:srgbClr val="2A2B2F"/>
                </a:solidFill>
              </a:rPr>
              <a:t>E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190">
                <a:solidFill>
                  <a:srgbClr val="2A2B2F"/>
                </a:solidFill>
              </a:rPr>
              <a:t>N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60">
                <a:solidFill>
                  <a:srgbClr val="2A2B2F"/>
                </a:solidFill>
              </a:rPr>
              <a:t>A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110">
                <a:solidFill>
                  <a:srgbClr val="2A2B2F"/>
                </a:solidFill>
              </a:rPr>
              <a:t>I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665">
                <a:solidFill>
                  <a:srgbClr val="2A2B2F"/>
                </a:solidFill>
              </a:rPr>
              <a:t>-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114">
                <a:solidFill>
                  <a:srgbClr val="2A2B2F"/>
                </a:solidFill>
              </a:rPr>
              <a:t>P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455">
                <a:solidFill>
                  <a:srgbClr val="2A2B2F"/>
                </a:solidFill>
              </a:rPr>
              <a:t>O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>
                <a:solidFill>
                  <a:srgbClr val="2A2B2F"/>
                </a:solidFill>
              </a:rPr>
              <a:t>W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240">
                <a:solidFill>
                  <a:srgbClr val="2A2B2F"/>
                </a:solidFill>
              </a:rPr>
              <a:t>E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120">
                <a:solidFill>
                  <a:srgbClr val="2A2B2F"/>
                </a:solidFill>
              </a:rPr>
              <a:t>R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240">
                <a:solidFill>
                  <a:srgbClr val="2A2B2F"/>
                </a:solidFill>
              </a:rPr>
              <a:t>E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280">
                <a:solidFill>
                  <a:srgbClr val="2A2B2F"/>
                </a:solidFill>
              </a:rPr>
              <a:t>D</a:t>
            </a:r>
            <a:r>
              <a:rPr dirty="0" sz="4700">
                <a:solidFill>
                  <a:srgbClr val="2A2B2F"/>
                </a:solidFill>
              </a:rPr>
              <a:t>	</a:t>
            </a:r>
            <a:r>
              <a:rPr dirty="0" sz="4700" spc="60">
                <a:solidFill>
                  <a:srgbClr val="2A2B2F"/>
                </a:solidFill>
              </a:rPr>
              <a:t>A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114">
                <a:solidFill>
                  <a:srgbClr val="2A2B2F"/>
                </a:solidFill>
              </a:rPr>
              <a:t>P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114">
                <a:solidFill>
                  <a:srgbClr val="2A2B2F"/>
                </a:solidFill>
              </a:rPr>
              <a:t>P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120">
                <a:solidFill>
                  <a:srgbClr val="2A2B2F"/>
                </a:solidFill>
              </a:rPr>
              <a:t>R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455">
                <a:solidFill>
                  <a:srgbClr val="2A2B2F"/>
                </a:solidFill>
              </a:rPr>
              <a:t>O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60">
                <a:solidFill>
                  <a:srgbClr val="2A2B2F"/>
                </a:solidFill>
              </a:rPr>
              <a:t>A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590">
                <a:solidFill>
                  <a:srgbClr val="2A2B2F"/>
                </a:solidFill>
              </a:rPr>
              <a:t>C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285">
                <a:solidFill>
                  <a:srgbClr val="2A2B2F"/>
                </a:solidFill>
              </a:rPr>
              <a:t>H</a:t>
            </a:r>
            <a:r>
              <a:rPr dirty="0" sz="4700">
                <a:solidFill>
                  <a:srgbClr val="2A2B2F"/>
                </a:solidFill>
              </a:rPr>
              <a:t>	</a:t>
            </a:r>
            <a:r>
              <a:rPr dirty="0" sz="4700" spc="120">
                <a:solidFill>
                  <a:srgbClr val="2A2B2F"/>
                </a:solidFill>
              </a:rPr>
              <a:t>T</a:t>
            </a:r>
            <a:r>
              <a:rPr dirty="0" sz="4700" spc="20">
                <a:solidFill>
                  <a:srgbClr val="2A2B2F"/>
                </a:solidFill>
              </a:rPr>
              <a:t> </a:t>
            </a:r>
            <a:r>
              <a:rPr dirty="0" sz="4700" spc="405">
                <a:solidFill>
                  <a:srgbClr val="2A2B2F"/>
                </a:solidFill>
              </a:rPr>
              <a:t>O</a:t>
            </a:r>
            <a:endParaRPr sz="4700"/>
          </a:p>
          <a:p>
            <a:pPr marL="12700">
              <a:lnSpc>
                <a:spcPct val="100000"/>
              </a:lnSpc>
              <a:spcBef>
                <a:spcPts val="885"/>
              </a:spcBef>
              <a:tabLst>
                <a:tab pos="4363085" algn="l"/>
                <a:tab pos="8389620" algn="l"/>
                <a:tab pos="11827510" algn="l"/>
              </a:tabLst>
            </a:pPr>
            <a:r>
              <a:rPr dirty="0" sz="4700" spc="110">
                <a:solidFill>
                  <a:srgbClr val="2A2B2F"/>
                </a:solidFill>
              </a:rPr>
              <a:t>I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190">
                <a:solidFill>
                  <a:srgbClr val="2A2B2F"/>
                </a:solidFill>
              </a:rPr>
              <a:t>N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590">
                <a:solidFill>
                  <a:srgbClr val="2A2B2F"/>
                </a:solidFill>
              </a:rPr>
              <a:t>C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120">
                <a:solidFill>
                  <a:srgbClr val="2A2B2F"/>
                </a:solidFill>
              </a:rPr>
              <a:t>R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240">
                <a:solidFill>
                  <a:srgbClr val="2A2B2F"/>
                </a:solidFill>
              </a:rPr>
              <a:t>E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60">
                <a:solidFill>
                  <a:srgbClr val="2A2B2F"/>
                </a:solidFill>
              </a:rPr>
              <a:t>A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310">
                <a:solidFill>
                  <a:srgbClr val="2A2B2F"/>
                </a:solidFill>
              </a:rPr>
              <a:t>S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190">
                <a:solidFill>
                  <a:srgbClr val="2A2B2F"/>
                </a:solidFill>
              </a:rPr>
              <a:t>E</a:t>
            </a:r>
            <a:r>
              <a:rPr dirty="0" sz="4700">
                <a:solidFill>
                  <a:srgbClr val="2A2B2F"/>
                </a:solidFill>
              </a:rPr>
              <a:t>	</a:t>
            </a:r>
            <a:r>
              <a:rPr dirty="0" sz="4700" spc="60">
                <a:solidFill>
                  <a:srgbClr val="2A2B2F"/>
                </a:solidFill>
              </a:rPr>
              <a:t>A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145">
                <a:solidFill>
                  <a:srgbClr val="2A2B2F"/>
                </a:solidFill>
              </a:rPr>
              <a:t>V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240">
                <a:solidFill>
                  <a:srgbClr val="2A2B2F"/>
                </a:solidFill>
              </a:rPr>
              <a:t>E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120">
                <a:solidFill>
                  <a:srgbClr val="2A2B2F"/>
                </a:solidFill>
              </a:rPr>
              <a:t>R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60">
                <a:solidFill>
                  <a:srgbClr val="2A2B2F"/>
                </a:solidFill>
              </a:rPr>
              <a:t>A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390">
                <a:solidFill>
                  <a:srgbClr val="2A2B2F"/>
                </a:solidFill>
              </a:rPr>
              <a:t>G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190">
                <a:solidFill>
                  <a:srgbClr val="2A2B2F"/>
                </a:solidFill>
              </a:rPr>
              <a:t>E</a:t>
            </a:r>
            <a:r>
              <a:rPr dirty="0" sz="4700">
                <a:solidFill>
                  <a:srgbClr val="2A2B2F"/>
                </a:solidFill>
              </a:rPr>
              <a:t>	</a:t>
            </a:r>
            <a:r>
              <a:rPr dirty="0" sz="4700" spc="90">
                <a:solidFill>
                  <a:srgbClr val="2A2B2F"/>
                </a:solidFill>
              </a:rPr>
              <a:t>B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60">
                <a:solidFill>
                  <a:srgbClr val="2A2B2F"/>
                </a:solidFill>
              </a:rPr>
              <a:t>A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310">
                <a:solidFill>
                  <a:srgbClr val="2A2B2F"/>
                </a:solidFill>
              </a:rPr>
              <a:t>S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125">
                <a:solidFill>
                  <a:srgbClr val="2A2B2F"/>
                </a:solidFill>
              </a:rPr>
              <a:t>K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240">
                <a:solidFill>
                  <a:srgbClr val="2A2B2F"/>
                </a:solidFill>
              </a:rPr>
              <a:t>E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70">
                <a:solidFill>
                  <a:srgbClr val="2A2B2F"/>
                </a:solidFill>
              </a:rPr>
              <a:t>T</a:t>
            </a:r>
            <a:r>
              <a:rPr dirty="0" sz="4700">
                <a:solidFill>
                  <a:srgbClr val="2A2B2F"/>
                </a:solidFill>
              </a:rPr>
              <a:t>	</a:t>
            </a:r>
            <a:r>
              <a:rPr dirty="0" sz="4700" spc="310">
                <a:solidFill>
                  <a:srgbClr val="2A2B2F"/>
                </a:solidFill>
              </a:rPr>
              <a:t>S</a:t>
            </a:r>
            <a:r>
              <a:rPr dirty="0" sz="4700" spc="30">
                <a:solidFill>
                  <a:srgbClr val="2A2B2F"/>
                </a:solidFill>
              </a:rPr>
              <a:t> </a:t>
            </a:r>
            <a:r>
              <a:rPr dirty="0" sz="4700" spc="110">
                <a:solidFill>
                  <a:srgbClr val="2A2B2F"/>
                </a:solidFill>
              </a:rPr>
              <a:t>I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155">
                <a:solidFill>
                  <a:srgbClr val="2A2B2F"/>
                </a:solidFill>
              </a:rPr>
              <a:t>Z</a:t>
            </a:r>
            <a:r>
              <a:rPr dirty="0" sz="4700" spc="35">
                <a:solidFill>
                  <a:srgbClr val="2A2B2F"/>
                </a:solidFill>
              </a:rPr>
              <a:t> </a:t>
            </a:r>
            <a:r>
              <a:rPr dirty="0" sz="4700" spc="190">
                <a:solidFill>
                  <a:srgbClr val="2A2B2F"/>
                </a:solidFill>
              </a:rPr>
              <a:t>E</a:t>
            </a:r>
            <a:endParaRPr sz="4700"/>
          </a:p>
        </p:txBody>
      </p:sp>
      <p:sp>
        <p:nvSpPr>
          <p:cNvPr id="3" name="object 3" descr=""/>
          <p:cNvSpPr txBox="1"/>
          <p:nvPr/>
        </p:nvSpPr>
        <p:spPr>
          <a:xfrm>
            <a:off x="1003707" y="6129083"/>
            <a:ext cx="7814945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>
                <a:solidFill>
                  <a:srgbClr val="2A2B2F"/>
                </a:solidFill>
                <a:latin typeface="Arial Black"/>
                <a:cs typeface="Arial Black"/>
              </a:rPr>
              <a:t>Presented</a:t>
            </a:r>
            <a:r>
              <a:rPr dirty="0" sz="3500" spc="580">
                <a:solidFill>
                  <a:srgbClr val="2A2B2F"/>
                </a:solidFill>
                <a:latin typeface="Arial Black"/>
                <a:cs typeface="Arial Black"/>
              </a:rPr>
              <a:t> </a:t>
            </a:r>
            <a:r>
              <a:rPr dirty="0" sz="3500" spc="-25">
                <a:solidFill>
                  <a:srgbClr val="2A2B2F"/>
                </a:solidFill>
                <a:latin typeface="Arial Black"/>
                <a:cs typeface="Arial Black"/>
              </a:rPr>
              <a:t>by</a:t>
            </a:r>
            <a:endParaRPr sz="35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4200"/>
              </a:spcBef>
            </a:pPr>
            <a:r>
              <a:rPr dirty="0" sz="3500" spc="-20">
                <a:solidFill>
                  <a:srgbClr val="2A2B2F"/>
                </a:solidFill>
                <a:latin typeface="Arial Black"/>
                <a:cs typeface="Arial Black"/>
              </a:rPr>
              <a:t>Yasaswini:</a:t>
            </a:r>
            <a:r>
              <a:rPr dirty="0" sz="3500" spc="-15">
                <a:solidFill>
                  <a:srgbClr val="2A2B2F"/>
                </a:solidFill>
                <a:latin typeface="Arial Black"/>
                <a:cs typeface="Arial Black"/>
              </a:rPr>
              <a:t> </a:t>
            </a:r>
            <a:r>
              <a:rPr dirty="0" sz="3500">
                <a:solidFill>
                  <a:srgbClr val="2A2B2F"/>
                </a:solidFill>
                <a:latin typeface="Arial Black"/>
                <a:cs typeface="Arial Black"/>
              </a:rPr>
              <a:t>Technical</a:t>
            </a:r>
            <a:r>
              <a:rPr dirty="0" sz="3500" spc="-10">
                <a:solidFill>
                  <a:srgbClr val="2A2B2F"/>
                </a:solidFill>
                <a:latin typeface="Arial Black"/>
                <a:cs typeface="Arial Black"/>
              </a:rPr>
              <a:t> Architect </a:t>
            </a:r>
            <a:r>
              <a:rPr dirty="0" sz="3500">
                <a:solidFill>
                  <a:srgbClr val="2A2B2F"/>
                </a:solidFill>
                <a:latin typeface="Arial Black"/>
                <a:cs typeface="Arial Black"/>
              </a:rPr>
              <a:t>Swetha</a:t>
            </a:r>
            <a:r>
              <a:rPr dirty="0" sz="3500" spc="110">
                <a:solidFill>
                  <a:srgbClr val="2A2B2F"/>
                </a:solidFill>
                <a:latin typeface="Arial Black"/>
                <a:cs typeface="Arial Black"/>
              </a:rPr>
              <a:t> </a:t>
            </a:r>
            <a:r>
              <a:rPr dirty="0" sz="3500" spc="50">
                <a:solidFill>
                  <a:srgbClr val="2A2B2F"/>
                </a:solidFill>
                <a:latin typeface="Arial Black"/>
                <a:cs typeface="Arial Black"/>
              </a:rPr>
              <a:t>Battula:</a:t>
            </a:r>
            <a:r>
              <a:rPr dirty="0" sz="3500" spc="114">
                <a:solidFill>
                  <a:srgbClr val="2A2B2F"/>
                </a:solidFill>
                <a:latin typeface="Arial Black"/>
                <a:cs typeface="Arial Black"/>
              </a:rPr>
              <a:t> </a:t>
            </a:r>
            <a:r>
              <a:rPr dirty="0" sz="3500" spc="55">
                <a:solidFill>
                  <a:srgbClr val="2A2B2F"/>
                </a:solidFill>
                <a:latin typeface="Arial Black"/>
                <a:cs typeface="Arial Black"/>
              </a:rPr>
              <a:t>Domain</a:t>
            </a:r>
            <a:r>
              <a:rPr dirty="0" sz="3500" spc="114">
                <a:solidFill>
                  <a:srgbClr val="2A2B2F"/>
                </a:solidFill>
                <a:latin typeface="Arial Black"/>
                <a:cs typeface="Arial Black"/>
              </a:rPr>
              <a:t> </a:t>
            </a:r>
            <a:r>
              <a:rPr dirty="0" sz="3500" spc="-10">
                <a:solidFill>
                  <a:srgbClr val="2A2B2F"/>
                </a:solidFill>
                <a:latin typeface="Arial Black"/>
                <a:cs typeface="Arial Black"/>
              </a:rPr>
              <a:t>Expert </a:t>
            </a:r>
            <a:r>
              <a:rPr dirty="0" sz="3500">
                <a:solidFill>
                  <a:srgbClr val="2A2B2F"/>
                </a:solidFill>
                <a:latin typeface="Arial Black"/>
                <a:cs typeface="Arial Black"/>
              </a:rPr>
              <a:t>Meghana</a:t>
            </a:r>
            <a:r>
              <a:rPr dirty="0" sz="3500" spc="114">
                <a:solidFill>
                  <a:srgbClr val="2A2B2F"/>
                </a:solidFill>
                <a:latin typeface="Arial Black"/>
                <a:cs typeface="Arial Black"/>
              </a:rPr>
              <a:t> </a:t>
            </a:r>
            <a:r>
              <a:rPr dirty="0" sz="3500">
                <a:solidFill>
                  <a:srgbClr val="2A2B2F"/>
                </a:solidFill>
                <a:latin typeface="Arial Black"/>
                <a:cs typeface="Arial Black"/>
              </a:rPr>
              <a:t>:</a:t>
            </a:r>
            <a:r>
              <a:rPr dirty="0" sz="3500" spc="114">
                <a:solidFill>
                  <a:srgbClr val="2A2B2F"/>
                </a:solidFill>
                <a:latin typeface="Arial Black"/>
                <a:cs typeface="Arial Black"/>
              </a:rPr>
              <a:t> </a:t>
            </a:r>
            <a:r>
              <a:rPr dirty="0" sz="3500" spc="-10">
                <a:solidFill>
                  <a:srgbClr val="2A2B2F"/>
                </a:solidFill>
                <a:latin typeface="Arial Black"/>
                <a:cs typeface="Arial Black"/>
              </a:rPr>
              <a:t>Designer</a:t>
            </a:r>
            <a:endParaRPr sz="3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tabLst>
                <a:tab pos="1896745" algn="l"/>
              </a:tabLst>
            </a:pPr>
            <a:r>
              <a:rPr dirty="0" sz="3500">
                <a:solidFill>
                  <a:srgbClr val="2A2B2F"/>
                </a:solidFill>
                <a:latin typeface="Arial Black"/>
                <a:cs typeface="Arial Black"/>
              </a:rPr>
              <a:t>Prem</a:t>
            </a:r>
            <a:r>
              <a:rPr dirty="0" sz="3500" spc="225">
                <a:solidFill>
                  <a:srgbClr val="2A2B2F"/>
                </a:solidFill>
                <a:latin typeface="Arial Black"/>
                <a:cs typeface="Arial Black"/>
              </a:rPr>
              <a:t> </a:t>
            </a:r>
            <a:r>
              <a:rPr dirty="0" sz="3500" spc="-60">
                <a:solidFill>
                  <a:srgbClr val="2A2B2F"/>
                </a:solidFill>
                <a:latin typeface="Arial Black"/>
                <a:cs typeface="Arial Black"/>
              </a:rPr>
              <a:t>:</a:t>
            </a:r>
            <a:r>
              <a:rPr dirty="0" sz="3500">
                <a:solidFill>
                  <a:srgbClr val="2A2B2F"/>
                </a:solidFill>
                <a:latin typeface="Arial Black"/>
                <a:cs typeface="Arial Black"/>
              </a:rPr>
              <a:t>	Business</a:t>
            </a:r>
            <a:r>
              <a:rPr dirty="0" sz="3500" spc="-15">
                <a:solidFill>
                  <a:srgbClr val="2A2B2F"/>
                </a:solidFill>
                <a:latin typeface="Arial Black"/>
                <a:cs typeface="Arial Black"/>
              </a:rPr>
              <a:t> </a:t>
            </a:r>
            <a:r>
              <a:rPr dirty="0" sz="3500" spc="-10">
                <a:solidFill>
                  <a:srgbClr val="2A2B2F"/>
                </a:solidFill>
                <a:latin typeface="Arial Black"/>
                <a:cs typeface="Arial Black"/>
              </a:rPr>
              <a:t>Analyst</a:t>
            </a:r>
            <a:endParaRPr sz="3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0257" y="4165292"/>
            <a:ext cx="142875" cy="1428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03707" y="4451677"/>
            <a:ext cx="6222365" cy="15684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692785">
              <a:lnSpc>
                <a:spcPct val="100000"/>
              </a:lnSpc>
              <a:spcBef>
                <a:spcPts val="370"/>
              </a:spcBef>
            </a:pPr>
            <a:r>
              <a:rPr dirty="0" sz="3150" spc="75">
                <a:solidFill>
                  <a:srgbClr val="2A2B2F"/>
                </a:solidFill>
                <a:latin typeface="Cambria"/>
                <a:cs typeface="Cambria"/>
              </a:rPr>
              <a:t>Size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-20">
                <a:solidFill>
                  <a:srgbClr val="2A2B2F"/>
                </a:solidFill>
                <a:latin typeface="Cambria"/>
                <a:cs typeface="Cambria"/>
              </a:rPr>
              <a:t>(ABS)</a:t>
            </a:r>
            <a:endParaRPr sz="3150">
              <a:latin typeface="Cambria"/>
              <a:cs typeface="Cambria"/>
            </a:endParaRPr>
          </a:p>
          <a:p>
            <a:pPr marL="12700" marR="5080">
              <a:lnSpc>
                <a:spcPct val="107100"/>
              </a:lnSpc>
            </a:pPr>
            <a:r>
              <a:rPr dirty="0" sz="3150" spc="130">
                <a:solidFill>
                  <a:srgbClr val="2A2B2F"/>
                </a:solidFill>
                <a:latin typeface="Cambria"/>
                <a:cs typeface="Cambria"/>
              </a:rPr>
              <a:t>Current</a:t>
            </a:r>
            <a:r>
              <a:rPr dirty="0" sz="3150" spc="9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60">
                <a:solidFill>
                  <a:srgbClr val="2A2B2F"/>
                </a:solidFill>
                <a:latin typeface="Cambria"/>
                <a:cs typeface="Cambria"/>
              </a:rPr>
              <a:t>State:</a:t>
            </a:r>
            <a:r>
              <a:rPr dirty="0" sz="3150" spc="11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-140" b="1">
                <a:solidFill>
                  <a:srgbClr val="2A2B2F"/>
                </a:solidFill>
                <a:latin typeface="Cambria"/>
                <a:cs typeface="Cambria"/>
              </a:rPr>
              <a:t>$45</a:t>
            </a:r>
            <a:r>
              <a:rPr dirty="0" sz="3150" spc="5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75">
                <a:solidFill>
                  <a:srgbClr val="2A2B2F"/>
                </a:solidFill>
                <a:latin typeface="Cambria"/>
                <a:cs typeface="Cambria"/>
              </a:rPr>
              <a:t>per</a:t>
            </a:r>
            <a:r>
              <a:rPr dirty="0" sz="3150" spc="11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70">
                <a:solidFill>
                  <a:srgbClr val="2A2B2F"/>
                </a:solidFill>
                <a:latin typeface="Cambria"/>
                <a:cs typeface="Cambria"/>
              </a:rPr>
              <a:t>transaction </a:t>
            </a:r>
            <a:r>
              <a:rPr dirty="0" sz="3150" spc="75">
                <a:solidFill>
                  <a:srgbClr val="2A2B2F"/>
                </a:solidFill>
                <a:latin typeface="Cambria"/>
                <a:cs typeface="Cambria"/>
              </a:rPr>
              <a:t>Target</a:t>
            </a:r>
            <a:r>
              <a:rPr dirty="0" sz="3150" spc="9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60">
                <a:solidFill>
                  <a:srgbClr val="2A2B2F"/>
                </a:solidFill>
                <a:latin typeface="Cambria"/>
                <a:cs typeface="Cambria"/>
              </a:rPr>
              <a:t>State:</a:t>
            </a:r>
            <a:r>
              <a:rPr dirty="0" sz="3150" spc="10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-100" b="1">
                <a:solidFill>
                  <a:srgbClr val="2A2B2F"/>
                </a:solidFill>
                <a:latin typeface="Cambria"/>
                <a:cs typeface="Cambria"/>
              </a:rPr>
              <a:t>$55</a:t>
            </a:r>
            <a:r>
              <a:rPr dirty="0" sz="3150" spc="5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75">
                <a:solidFill>
                  <a:srgbClr val="2A2B2F"/>
                </a:solidFill>
                <a:latin typeface="Cambria"/>
                <a:cs typeface="Cambria"/>
              </a:rPr>
              <a:t>per</a:t>
            </a:r>
            <a:r>
              <a:rPr dirty="0" sz="3150" spc="10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70">
                <a:solidFill>
                  <a:srgbClr val="2A2B2F"/>
                </a:solidFill>
                <a:latin typeface="Cambria"/>
                <a:cs typeface="Cambria"/>
              </a:rPr>
              <a:t>transaction</a:t>
            </a:r>
            <a:endParaRPr sz="315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0257" y="7251392"/>
            <a:ext cx="142875" cy="1428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0257" y="7765742"/>
            <a:ext cx="142875" cy="1428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0257" y="8280092"/>
            <a:ext cx="142875" cy="1428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0257" y="8794442"/>
            <a:ext cx="142875" cy="1428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0257" y="9308792"/>
            <a:ext cx="142875" cy="14287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03707" y="6509077"/>
            <a:ext cx="7372984" cy="311150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3150" b="1">
                <a:solidFill>
                  <a:srgbClr val="2A2B2F"/>
                </a:solidFill>
                <a:latin typeface="Cambria"/>
                <a:cs typeface="Cambria"/>
              </a:rPr>
              <a:t>Primary</a:t>
            </a:r>
            <a:r>
              <a:rPr dirty="0" sz="3150" spc="17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-10" b="1">
                <a:solidFill>
                  <a:srgbClr val="2A2B2F"/>
                </a:solidFill>
                <a:latin typeface="Cambria"/>
                <a:cs typeface="Cambria"/>
              </a:rPr>
              <a:t>Stakeholders</a:t>
            </a:r>
            <a:endParaRPr sz="3150">
              <a:latin typeface="Cambria"/>
              <a:cs typeface="Cambria"/>
            </a:endParaRPr>
          </a:p>
          <a:p>
            <a:pPr marL="692785">
              <a:lnSpc>
                <a:spcPct val="100000"/>
              </a:lnSpc>
              <a:spcBef>
                <a:spcPts val="270"/>
              </a:spcBef>
            </a:pPr>
            <a:r>
              <a:rPr dirty="0" sz="3150" spc="110">
                <a:solidFill>
                  <a:srgbClr val="2A2B2F"/>
                </a:solidFill>
                <a:latin typeface="Cambria"/>
                <a:cs typeface="Cambria"/>
              </a:rPr>
              <a:t>Customers</a:t>
            </a:r>
            <a:endParaRPr sz="3150">
              <a:latin typeface="Cambria"/>
              <a:cs typeface="Cambria"/>
            </a:endParaRPr>
          </a:p>
          <a:p>
            <a:pPr marL="692785" marR="5080">
              <a:lnSpc>
                <a:spcPct val="107100"/>
              </a:lnSpc>
            </a:pPr>
            <a:r>
              <a:rPr dirty="0" sz="3150" spc="80">
                <a:solidFill>
                  <a:srgbClr val="2A2B2F"/>
                </a:solidFill>
                <a:latin typeface="Cambria"/>
                <a:cs typeface="Cambria"/>
              </a:rPr>
              <a:t>Store</a:t>
            </a:r>
            <a:r>
              <a:rPr dirty="0" sz="3150" spc="13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85">
                <a:solidFill>
                  <a:srgbClr val="2A2B2F"/>
                </a:solidFill>
                <a:latin typeface="Cambria"/>
                <a:cs typeface="Cambria"/>
              </a:rPr>
              <a:t>managers</a:t>
            </a:r>
            <a:r>
              <a:rPr dirty="0" sz="315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75">
                <a:solidFill>
                  <a:srgbClr val="2A2B2F"/>
                </a:solidFill>
                <a:latin typeface="Cambria"/>
                <a:cs typeface="Cambria"/>
              </a:rPr>
              <a:t>and</a:t>
            </a:r>
            <a:r>
              <a:rPr dirty="0" sz="315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80">
                <a:solidFill>
                  <a:srgbClr val="2A2B2F"/>
                </a:solidFill>
                <a:latin typeface="Cambria"/>
                <a:cs typeface="Cambria"/>
              </a:rPr>
              <a:t>frontline</a:t>
            </a:r>
            <a:r>
              <a:rPr dirty="0" sz="315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65">
                <a:solidFill>
                  <a:srgbClr val="2A2B2F"/>
                </a:solidFill>
                <a:latin typeface="Cambria"/>
                <a:cs typeface="Cambria"/>
              </a:rPr>
              <a:t>staff </a:t>
            </a:r>
            <a:r>
              <a:rPr dirty="0" sz="3150" spc="90">
                <a:solidFill>
                  <a:srgbClr val="2A2B2F"/>
                </a:solidFill>
                <a:latin typeface="Cambria"/>
                <a:cs typeface="Cambria"/>
              </a:rPr>
              <a:t>Marketing</a:t>
            </a:r>
            <a:r>
              <a:rPr dirty="0" sz="315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75">
                <a:solidFill>
                  <a:srgbClr val="2A2B2F"/>
                </a:solidFill>
                <a:latin typeface="Cambria"/>
                <a:cs typeface="Cambria"/>
              </a:rPr>
              <a:t>and</a:t>
            </a:r>
            <a:r>
              <a:rPr dirty="0" sz="315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95">
                <a:solidFill>
                  <a:srgbClr val="2A2B2F"/>
                </a:solidFill>
                <a:latin typeface="Cambria"/>
                <a:cs typeface="Cambria"/>
              </a:rPr>
              <a:t>merchandising</a:t>
            </a:r>
            <a:r>
              <a:rPr dirty="0" sz="315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65">
                <a:solidFill>
                  <a:srgbClr val="2A2B2F"/>
                </a:solidFill>
                <a:latin typeface="Cambria"/>
                <a:cs typeface="Cambria"/>
              </a:rPr>
              <a:t>teams </a:t>
            </a:r>
            <a:r>
              <a:rPr dirty="0" sz="3150" spc="70">
                <a:solidFill>
                  <a:srgbClr val="2A2B2F"/>
                </a:solidFill>
                <a:latin typeface="Cambria"/>
                <a:cs typeface="Cambria"/>
              </a:rPr>
              <a:t>IT</a:t>
            </a:r>
            <a:r>
              <a:rPr dirty="0" sz="3150" spc="13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450">
                <a:solidFill>
                  <a:srgbClr val="2A2B2F"/>
                </a:solidFill>
                <a:latin typeface="Cambria"/>
                <a:cs typeface="Cambria"/>
              </a:rPr>
              <a:t>&amp;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50">
                <a:solidFill>
                  <a:srgbClr val="2A2B2F"/>
                </a:solidFill>
                <a:latin typeface="Cambria"/>
                <a:cs typeface="Cambria"/>
              </a:rPr>
              <a:t>data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65">
                <a:solidFill>
                  <a:srgbClr val="2A2B2F"/>
                </a:solidFill>
                <a:latin typeface="Cambria"/>
                <a:cs typeface="Cambria"/>
              </a:rPr>
              <a:t>analytics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65">
                <a:solidFill>
                  <a:srgbClr val="2A2B2F"/>
                </a:solidFill>
                <a:latin typeface="Cambria"/>
                <a:cs typeface="Cambria"/>
              </a:rPr>
              <a:t>teams</a:t>
            </a:r>
            <a:endParaRPr sz="3150">
              <a:latin typeface="Cambria"/>
              <a:cs typeface="Cambria"/>
            </a:endParaRPr>
          </a:p>
          <a:p>
            <a:pPr marL="692785">
              <a:lnSpc>
                <a:spcPct val="100000"/>
              </a:lnSpc>
              <a:spcBef>
                <a:spcPts val="270"/>
              </a:spcBef>
            </a:pPr>
            <a:r>
              <a:rPr dirty="0" sz="3150" spc="85">
                <a:solidFill>
                  <a:srgbClr val="2A2B2F"/>
                </a:solidFill>
                <a:latin typeface="Cambria"/>
                <a:cs typeface="Cambria"/>
              </a:rPr>
              <a:t>Senior</a:t>
            </a:r>
            <a:r>
              <a:rPr dirty="0" sz="315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70">
                <a:solidFill>
                  <a:srgbClr val="2A2B2F"/>
                </a:solidFill>
                <a:latin typeface="Cambria"/>
                <a:cs typeface="Cambria"/>
              </a:rPr>
              <a:t>business</a:t>
            </a:r>
            <a:r>
              <a:rPr dirty="0" sz="315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60">
                <a:solidFill>
                  <a:srgbClr val="2A2B2F"/>
                </a:solidFill>
                <a:latin typeface="Cambria"/>
                <a:cs typeface="Cambria"/>
              </a:rPr>
              <a:t>leadership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700" spc="220">
                <a:solidFill>
                  <a:srgbClr val="2A2B2F"/>
                </a:solidFill>
              </a:rPr>
              <a:t>PROBLEM</a:t>
            </a:r>
            <a:r>
              <a:rPr dirty="0" sz="4700" spc="65">
                <a:solidFill>
                  <a:srgbClr val="2A2B2F"/>
                </a:solidFill>
              </a:rPr>
              <a:t> </a:t>
            </a:r>
            <a:r>
              <a:rPr dirty="0" sz="4700" spc="140">
                <a:solidFill>
                  <a:srgbClr val="2A2B2F"/>
                </a:solidFill>
              </a:rPr>
              <a:t>OVERVIEW</a:t>
            </a:r>
            <a:endParaRPr sz="4700"/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77854" y="4993561"/>
            <a:ext cx="142875" cy="14287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77854" y="6079411"/>
            <a:ext cx="142875" cy="1428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77854" y="7165261"/>
            <a:ext cx="142875" cy="14287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9941304" y="4183295"/>
            <a:ext cx="6565265" cy="382587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3100" spc="-10" b="1">
                <a:solidFill>
                  <a:srgbClr val="2A2B2F"/>
                </a:solidFill>
                <a:latin typeface="Cambria"/>
                <a:cs typeface="Cambria"/>
              </a:rPr>
              <a:t>Why</a:t>
            </a:r>
            <a:r>
              <a:rPr dirty="0" sz="3100" spc="-7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b="1">
                <a:solidFill>
                  <a:srgbClr val="2A2B2F"/>
                </a:solidFill>
                <a:latin typeface="Cambria"/>
                <a:cs typeface="Cambria"/>
              </a:rPr>
              <a:t>This</a:t>
            </a:r>
            <a:r>
              <a:rPr dirty="0" sz="3100" spc="10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-10" b="1">
                <a:solidFill>
                  <a:srgbClr val="2A2B2F"/>
                </a:solidFill>
                <a:latin typeface="Cambria"/>
                <a:cs typeface="Cambria"/>
              </a:rPr>
              <a:t>Matters</a:t>
            </a:r>
            <a:endParaRPr sz="3100">
              <a:latin typeface="Cambria"/>
              <a:cs typeface="Cambria"/>
            </a:endParaRPr>
          </a:p>
          <a:p>
            <a:pPr marL="681355" marR="227965">
              <a:lnSpc>
                <a:spcPct val="114900"/>
              </a:lnSpc>
            </a:pPr>
            <a:r>
              <a:rPr dirty="0" sz="3100" spc="50">
                <a:solidFill>
                  <a:srgbClr val="2A2B2F"/>
                </a:solidFill>
                <a:latin typeface="Cambria"/>
                <a:cs typeface="Cambria"/>
              </a:rPr>
              <a:t>Drives</a:t>
            </a:r>
            <a:r>
              <a:rPr dirty="0" sz="3100" spc="2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revenue</a:t>
            </a:r>
            <a:r>
              <a:rPr dirty="0" sz="3100" spc="2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growth</a:t>
            </a:r>
            <a:r>
              <a:rPr dirty="0" sz="3100" spc="1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-10">
                <a:solidFill>
                  <a:srgbClr val="2A2B2F"/>
                </a:solidFill>
                <a:latin typeface="Cambria"/>
                <a:cs typeface="Cambria"/>
              </a:rPr>
              <a:t>without </a:t>
            </a:r>
            <a:r>
              <a:rPr dirty="0" sz="3100" spc="60">
                <a:solidFill>
                  <a:srgbClr val="2A2B2F"/>
                </a:solidFill>
                <a:latin typeface="Cambria"/>
                <a:cs typeface="Cambria"/>
              </a:rPr>
              <a:t>increasing</a:t>
            </a:r>
            <a:r>
              <a:rPr dirty="0" sz="3100" spc="12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0">
                <a:solidFill>
                  <a:srgbClr val="2A2B2F"/>
                </a:solidFill>
                <a:latin typeface="Cambria"/>
                <a:cs typeface="Cambria"/>
              </a:rPr>
              <a:t>customer</a:t>
            </a:r>
            <a:r>
              <a:rPr dirty="0" sz="3100" spc="5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45">
                <a:solidFill>
                  <a:srgbClr val="2A2B2F"/>
                </a:solidFill>
                <a:latin typeface="Cambria"/>
                <a:cs typeface="Cambria"/>
              </a:rPr>
              <a:t>acquisition </a:t>
            </a:r>
            <a:r>
              <a:rPr dirty="0" sz="3100" spc="65">
                <a:solidFill>
                  <a:srgbClr val="2A2B2F"/>
                </a:solidFill>
                <a:latin typeface="Cambria"/>
                <a:cs typeface="Cambria"/>
              </a:rPr>
              <a:t>Maximizes</a:t>
            </a:r>
            <a:r>
              <a:rPr dirty="0" sz="3100" spc="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value</a:t>
            </a:r>
            <a:r>
              <a:rPr dirty="0" sz="310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0">
                <a:solidFill>
                  <a:srgbClr val="2A2B2F"/>
                </a:solidFill>
                <a:latin typeface="Cambria"/>
                <a:cs typeface="Cambria"/>
              </a:rPr>
              <a:t>from</a:t>
            </a:r>
            <a:r>
              <a:rPr dirty="0" sz="310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45">
                <a:solidFill>
                  <a:srgbClr val="2A2B2F"/>
                </a:solidFill>
                <a:latin typeface="Cambria"/>
                <a:cs typeface="Cambria"/>
              </a:rPr>
              <a:t>existing </a:t>
            </a:r>
            <a:r>
              <a:rPr dirty="0" sz="3100" spc="70">
                <a:solidFill>
                  <a:srgbClr val="2A2B2F"/>
                </a:solidFill>
                <a:latin typeface="Cambria"/>
                <a:cs typeface="Cambria"/>
              </a:rPr>
              <a:t>customer</a:t>
            </a:r>
            <a:r>
              <a:rPr dirty="0" sz="3100" spc="1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60">
                <a:solidFill>
                  <a:srgbClr val="2A2B2F"/>
                </a:solidFill>
                <a:latin typeface="Cambria"/>
                <a:cs typeface="Cambria"/>
              </a:rPr>
              <a:t>traffic</a:t>
            </a:r>
            <a:endParaRPr sz="3100">
              <a:latin typeface="Cambria"/>
              <a:cs typeface="Cambria"/>
            </a:endParaRPr>
          </a:p>
          <a:p>
            <a:pPr marL="681355" marR="5080">
              <a:lnSpc>
                <a:spcPct val="114900"/>
              </a:lnSpc>
            </a:pP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Improves</a:t>
            </a:r>
            <a:r>
              <a:rPr dirty="0" sz="3100" spc="20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60">
                <a:solidFill>
                  <a:srgbClr val="2A2B2F"/>
                </a:solidFill>
                <a:latin typeface="Cambria"/>
                <a:cs typeface="Cambria"/>
              </a:rPr>
              <a:t>product</a:t>
            </a:r>
            <a:r>
              <a:rPr dirty="0" sz="3100" spc="15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55">
                <a:solidFill>
                  <a:srgbClr val="2A2B2F"/>
                </a:solidFill>
                <a:latin typeface="Cambria"/>
                <a:cs typeface="Cambria"/>
              </a:rPr>
              <a:t>movement</a:t>
            </a:r>
            <a:r>
              <a:rPr dirty="0" sz="310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45">
                <a:solidFill>
                  <a:srgbClr val="2A2B2F"/>
                </a:solidFill>
                <a:latin typeface="Cambria"/>
                <a:cs typeface="Cambria"/>
              </a:rPr>
              <a:t>and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inventory</a:t>
            </a:r>
            <a:r>
              <a:rPr dirty="0" sz="3100" spc="35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55">
                <a:solidFill>
                  <a:srgbClr val="2A2B2F"/>
                </a:solidFill>
                <a:latin typeface="Cambria"/>
                <a:cs typeface="Cambria"/>
              </a:rPr>
              <a:t>efficiency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03707" y="2226333"/>
            <a:ext cx="11325860" cy="225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b="1">
                <a:solidFill>
                  <a:srgbClr val="2A2B2F"/>
                </a:solidFill>
                <a:latin typeface="Cambria"/>
                <a:cs typeface="Cambria"/>
              </a:rPr>
              <a:t>Choosen</a:t>
            </a:r>
            <a:r>
              <a:rPr dirty="0" sz="3400" spc="35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400" spc="-10" b="1">
                <a:solidFill>
                  <a:srgbClr val="2A2B2F"/>
                </a:solidFill>
                <a:latin typeface="Cambria"/>
                <a:cs typeface="Cambria"/>
              </a:rPr>
              <a:t>Challenge:</a:t>
            </a:r>
            <a:endParaRPr sz="3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3100" spc="235">
                <a:solidFill>
                  <a:srgbClr val="2A2B2F"/>
                </a:solidFill>
                <a:latin typeface="Cambria"/>
                <a:cs typeface="Cambria"/>
              </a:rPr>
              <a:t>GenAI-</a:t>
            </a:r>
            <a:r>
              <a:rPr dirty="0" sz="3100" spc="110">
                <a:solidFill>
                  <a:srgbClr val="2A2B2F"/>
                </a:solidFill>
                <a:latin typeface="Cambria"/>
                <a:cs typeface="Cambria"/>
              </a:rPr>
              <a:t>based</a:t>
            </a:r>
            <a:r>
              <a:rPr dirty="0" sz="3100" spc="27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125">
                <a:solidFill>
                  <a:srgbClr val="2A2B2F"/>
                </a:solidFill>
                <a:latin typeface="Cambria"/>
                <a:cs typeface="Cambria"/>
              </a:rPr>
              <a:t>solution</a:t>
            </a:r>
            <a:r>
              <a:rPr dirty="0" sz="3100" spc="2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80">
                <a:solidFill>
                  <a:srgbClr val="2A2B2F"/>
                </a:solidFill>
                <a:latin typeface="Cambria"/>
                <a:cs typeface="Cambria"/>
              </a:rPr>
              <a:t>to</a:t>
            </a:r>
            <a:r>
              <a:rPr dirty="0" sz="3100" spc="27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135">
                <a:solidFill>
                  <a:srgbClr val="2A2B2F"/>
                </a:solidFill>
                <a:latin typeface="Cambria"/>
                <a:cs typeface="Cambria"/>
              </a:rPr>
              <a:t>increase</a:t>
            </a:r>
            <a:r>
              <a:rPr dirty="0" sz="3100" spc="16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100">
                <a:solidFill>
                  <a:srgbClr val="2A2B2F"/>
                </a:solidFill>
                <a:latin typeface="Cambria"/>
                <a:cs typeface="Cambria"/>
              </a:rPr>
              <a:t>Average</a:t>
            </a:r>
            <a:r>
              <a:rPr dirty="0" sz="3100" spc="27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95">
                <a:solidFill>
                  <a:srgbClr val="2A2B2F"/>
                </a:solidFill>
                <a:latin typeface="Cambria"/>
                <a:cs typeface="Cambria"/>
              </a:rPr>
              <a:t>Basket</a:t>
            </a:r>
            <a:r>
              <a:rPr dirty="0" sz="3100" spc="22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130">
                <a:solidFill>
                  <a:srgbClr val="2A2B2F"/>
                </a:solidFill>
                <a:latin typeface="Cambria"/>
                <a:cs typeface="Cambria"/>
              </a:rPr>
              <a:t>Size</a:t>
            </a:r>
            <a:r>
              <a:rPr dirty="0" sz="3100" spc="27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by</a:t>
            </a:r>
            <a:r>
              <a:rPr dirty="0" sz="3100" spc="18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cap="small" sz="3100" spc="-350">
                <a:solidFill>
                  <a:srgbClr val="2A2B2F"/>
                </a:solidFill>
                <a:latin typeface="Cambria"/>
                <a:cs typeface="Cambria"/>
              </a:rPr>
              <a:t>2</a:t>
            </a:r>
            <a:r>
              <a:rPr dirty="0" sz="3100" spc="-350">
                <a:solidFill>
                  <a:srgbClr val="2A2B2F"/>
                </a:solidFill>
                <a:latin typeface="Cambria"/>
                <a:cs typeface="Cambria"/>
              </a:rPr>
              <a:t>5%</a:t>
            </a:r>
            <a:endParaRPr sz="3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3150" b="1">
                <a:solidFill>
                  <a:srgbClr val="2A2B2F"/>
                </a:solidFill>
                <a:latin typeface="Cambria"/>
                <a:cs typeface="Cambria"/>
              </a:rPr>
              <a:t>Business</a:t>
            </a:r>
            <a:r>
              <a:rPr dirty="0" sz="3150" spc="16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-10" b="1">
                <a:solidFill>
                  <a:srgbClr val="2A2B2F"/>
                </a:solidFill>
                <a:latin typeface="Cambria"/>
                <a:cs typeface="Cambria"/>
              </a:rPr>
              <a:t>Objective</a:t>
            </a:r>
            <a:endParaRPr sz="3150">
              <a:latin typeface="Cambria"/>
              <a:cs typeface="Cambria"/>
            </a:endParaRPr>
          </a:p>
          <a:p>
            <a:pPr marL="692785">
              <a:lnSpc>
                <a:spcPct val="100000"/>
              </a:lnSpc>
              <a:spcBef>
                <a:spcPts val="270"/>
              </a:spcBef>
            </a:pPr>
            <a:r>
              <a:rPr dirty="0" sz="3150" spc="60">
                <a:solidFill>
                  <a:srgbClr val="2A2B2F"/>
                </a:solidFill>
                <a:latin typeface="Cambria"/>
                <a:cs typeface="Cambria"/>
              </a:rPr>
              <a:t>Achieve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>
                <a:solidFill>
                  <a:srgbClr val="2A2B2F"/>
                </a:solidFill>
                <a:latin typeface="Cambria"/>
                <a:cs typeface="Cambria"/>
              </a:rPr>
              <a:t>a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cap="small" sz="3150" spc="-385">
                <a:solidFill>
                  <a:srgbClr val="2A2B2F"/>
                </a:solidFill>
                <a:latin typeface="Cambria"/>
                <a:cs typeface="Cambria"/>
              </a:rPr>
              <a:t>2</a:t>
            </a:r>
            <a:r>
              <a:rPr dirty="0" sz="3150" spc="-385">
                <a:solidFill>
                  <a:srgbClr val="2A2B2F"/>
                </a:solidFill>
                <a:latin typeface="Cambria"/>
                <a:cs typeface="Cambria"/>
              </a:rPr>
              <a:t>5%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75">
                <a:solidFill>
                  <a:srgbClr val="2A2B2F"/>
                </a:solidFill>
                <a:latin typeface="Cambria"/>
                <a:cs typeface="Cambria"/>
              </a:rPr>
              <a:t>uplift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80">
                <a:solidFill>
                  <a:srgbClr val="2A2B2F"/>
                </a:solidFill>
                <a:latin typeface="Cambria"/>
                <a:cs typeface="Cambria"/>
              </a:rPr>
              <a:t>in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50">
                <a:solidFill>
                  <a:srgbClr val="2A2B2F"/>
                </a:solidFill>
                <a:latin typeface="Cambria"/>
                <a:cs typeface="Cambria"/>
              </a:rPr>
              <a:t>Average</a:t>
            </a:r>
            <a:r>
              <a:rPr dirty="0" sz="315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50" spc="45">
                <a:solidFill>
                  <a:srgbClr val="2A2B2F"/>
                </a:solidFill>
                <a:latin typeface="Cambria"/>
                <a:cs typeface="Cambria"/>
              </a:rPr>
              <a:t>Basket</a:t>
            </a:r>
            <a:endParaRPr sz="3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4200" spc="470">
                <a:solidFill>
                  <a:srgbClr val="2A2B2F"/>
                </a:solidFill>
              </a:rPr>
              <a:t>CORE</a:t>
            </a:r>
            <a:r>
              <a:rPr dirty="0" sz="4200" spc="425">
                <a:solidFill>
                  <a:srgbClr val="2A2B2F"/>
                </a:solidFill>
              </a:rPr>
              <a:t> </a:t>
            </a:r>
            <a:r>
              <a:rPr dirty="0" sz="4200" spc="350">
                <a:solidFill>
                  <a:srgbClr val="2A2B2F"/>
                </a:solidFill>
              </a:rPr>
              <a:t>BUSINESS</a:t>
            </a:r>
            <a:r>
              <a:rPr dirty="0" sz="4200" spc="430">
                <a:solidFill>
                  <a:srgbClr val="2A2B2F"/>
                </a:solidFill>
              </a:rPr>
              <a:t> </a:t>
            </a:r>
            <a:r>
              <a:rPr dirty="0" sz="4200" spc="245">
                <a:solidFill>
                  <a:srgbClr val="2A2B2F"/>
                </a:solidFill>
              </a:rPr>
              <a:t>PAIN</a:t>
            </a:r>
            <a:r>
              <a:rPr dirty="0" sz="4200" spc="430">
                <a:solidFill>
                  <a:srgbClr val="2A2B2F"/>
                </a:solidFill>
              </a:rPr>
              <a:t> </a:t>
            </a:r>
            <a:r>
              <a:rPr dirty="0" sz="4200" spc="340">
                <a:solidFill>
                  <a:srgbClr val="2A2B2F"/>
                </a:solidFill>
              </a:rPr>
              <a:t>POINTS</a:t>
            </a:r>
            <a:endParaRPr sz="4200"/>
          </a:p>
        </p:txBody>
      </p:sp>
      <p:sp>
        <p:nvSpPr>
          <p:cNvPr id="3" name="object 3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5002" y="3746985"/>
            <a:ext cx="142875" cy="1428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5002" y="4499459"/>
            <a:ext cx="142875" cy="1428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5002" y="6052034"/>
            <a:ext cx="142875" cy="1428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5002" y="6804509"/>
            <a:ext cx="142875" cy="1428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5002" y="8357084"/>
            <a:ext cx="142875" cy="1428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5002" y="9109559"/>
            <a:ext cx="142875" cy="1428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429402" y="2444255"/>
            <a:ext cx="11057890" cy="6969125"/>
          </a:xfrm>
          <a:prstGeom prst="rect">
            <a:avLst/>
          </a:prstGeom>
        </p:spPr>
        <p:txBody>
          <a:bodyPr wrap="square" lIns="0" tIns="308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30"/>
              </a:spcBef>
            </a:pPr>
            <a:r>
              <a:rPr dirty="0" sz="3400" b="1">
                <a:solidFill>
                  <a:srgbClr val="2A2B2F"/>
                </a:solidFill>
                <a:latin typeface="Cambria"/>
                <a:cs typeface="Cambria"/>
              </a:rPr>
              <a:t>Ineffective</a:t>
            </a:r>
            <a:r>
              <a:rPr dirty="0" sz="3400" spc="-5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400" spc="140" b="1">
                <a:solidFill>
                  <a:srgbClr val="2A2B2F"/>
                </a:solidFill>
                <a:latin typeface="Cambria"/>
                <a:cs typeface="Cambria"/>
              </a:rPr>
              <a:t>Cross-</a:t>
            </a:r>
            <a:r>
              <a:rPr dirty="0" sz="3400" spc="-10" b="1">
                <a:solidFill>
                  <a:srgbClr val="2A2B2F"/>
                </a:solidFill>
                <a:latin typeface="Cambria"/>
                <a:cs typeface="Cambria"/>
              </a:rPr>
              <a:t>Selling</a:t>
            </a:r>
            <a:endParaRPr sz="3400">
              <a:latin typeface="Cambria"/>
              <a:cs typeface="Cambria"/>
            </a:endParaRPr>
          </a:p>
          <a:p>
            <a:pPr marL="702945" marR="2036445">
              <a:lnSpc>
                <a:spcPct val="154300"/>
              </a:lnSpc>
              <a:spcBef>
                <a:spcPts val="110"/>
              </a:spcBef>
            </a:pPr>
            <a:r>
              <a:rPr dirty="0" sz="3200" spc="160">
                <a:solidFill>
                  <a:srgbClr val="2A2B2F"/>
                </a:solidFill>
                <a:latin typeface="Cambria"/>
                <a:cs typeface="Cambria"/>
              </a:rPr>
              <a:t>Add-</a:t>
            </a:r>
            <a:r>
              <a:rPr dirty="0" sz="3200" spc="75">
                <a:solidFill>
                  <a:srgbClr val="2A2B2F"/>
                </a:solidFill>
                <a:latin typeface="Cambria"/>
                <a:cs typeface="Cambria"/>
              </a:rPr>
              <a:t>on</a:t>
            </a:r>
            <a:r>
              <a:rPr dirty="0" sz="3200" spc="13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60">
                <a:solidFill>
                  <a:srgbClr val="2A2B2F"/>
                </a:solidFill>
                <a:latin typeface="Cambria"/>
                <a:cs typeface="Cambria"/>
              </a:rPr>
              <a:t>suggestions</a:t>
            </a:r>
            <a:r>
              <a:rPr dirty="0" sz="3200" spc="13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>
                <a:solidFill>
                  <a:srgbClr val="2A2B2F"/>
                </a:solidFill>
                <a:latin typeface="Cambria"/>
                <a:cs typeface="Cambria"/>
              </a:rPr>
              <a:t>are</a:t>
            </a:r>
            <a:r>
              <a:rPr dirty="0" sz="32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75">
                <a:solidFill>
                  <a:srgbClr val="2A2B2F"/>
                </a:solidFill>
                <a:latin typeface="Cambria"/>
                <a:cs typeface="Cambria"/>
              </a:rPr>
              <a:t>generic</a:t>
            </a:r>
            <a:r>
              <a:rPr dirty="0" sz="3200" spc="13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60">
                <a:solidFill>
                  <a:srgbClr val="2A2B2F"/>
                </a:solidFill>
                <a:latin typeface="Cambria"/>
                <a:cs typeface="Cambria"/>
              </a:rPr>
              <a:t>and</a:t>
            </a:r>
            <a:r>
              <a:rPr dirty="0" sz="32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50">
                <a:solidFill>
                  <a:srgbClr val="2A2B2F"/>
                </a:solidFill>
                <a:latin typeface="Cambria"/>
                <a:cs typeface="Cambria"/>
              </a:rPr>
              <a:t>untimely </a:t>
            </a:r>
            <a:r>
              <a:rPr dirty="0" sz="3200" spc="65">
                <a:solidFill>
                  <a:srgbClr val="2A2B2F"/>
                </a:solidFill>
                <a:latin typeface="Cambria"/>
                <a:cs typeface="Cambria"/>
              </a:rPr>
              <a:t>Manual</a:t>
            </a:r>
            <a:r>
              <a:rPr dirty="0" sz="3200" spc="10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55">
                <a:solidFill>
                  <a:srgbClr val="2A2B2F"/>
                </a:solidFill>
                <a:latin typeface="Cambria"/>
                <a:cs typeface="Cambria"/>
              </a:rPr>
              <a:t>upselling</a:t>
            </a:r>
            <a:r>
              <a:rPr dirty="0" sz="3200" spc="11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60">
                <a:solidFill>
                  <a:srgbClr val="2A2B2F"/>
                </a:solidFill>
                <a:latin typeface="Cambria"/>
                <a:cs typeface="Cambria"/>
              </a:rPr>
              <a:t>lacks</a:t>
            </a:r>
            <a:r>
              <a:rPr dirty="0" sz="3200" spc="11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-10">
                <a:solidFill>
                  <a:srgbClr val="2A2B2F"/>
                </a:solidFill>
                <a:latin typeface="Cambria"/>
                <a:cs typeface="Cambria"/>
              </a:rPr>
              <a:t>scalability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dirty="0" sz="3400" b="1">
                <a:solidFill>
                  <a:srgbClr val="2A2B2F"/>
                </a:solidFill>
                <a:latin typeface="Cambria"/>
                <a:cs typeface="Cambria"/>
              </a:rPr>
              <a:t>Uniform</a:t>
            </a:r>
            <a:r>
              <a:rPr dirty="0" sz="3400" spc="23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400" b="1">
                <a:solidFill>
                  <a:srgbClr val="2A2B2F"/>
                </a:solidFill>
                <a:latin typeface="Cambria"/>
                <a:cs typeface="Cambria"/>
              </a:rPr>
              <a:t>Customer</a:t>
            </a:r>
            <a:r>
              <a:rPr dirty="0" sz="3400" spc="23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400" spc="-10" b="1">
                <a:solidFill>
                  <a:srgbClr val="2A2B2F"/>
                </a:solidFill>
                <a:latin typeface="Cambria"/>
                <a:cs typeface="Cambria"/>
              </a:rPr>
              <a:t>Experience</a:t>
            </a:r>
            <a:endParaRPr sz="3400">
              <a:latin typeface="Cambria"/>
              <a:cs typeface="Cambria"/>
            </a:endParaRPr>
          </a:p>
          <a:p>
            <a:pPr marL="702945">
              <a:lnSpc>
                <a:spcPct val="100000"/>
              </a:lnSpc>
              <a:spcBef>
                <a:spcPts val="2195"/>
              </a:spcBef>
            </a:pPr>
            <a:r>
              <a:rPr dirty="0" sz="3200" spc="55">
                <a:solidFill>
                  <a:srgbClr val="2A2B2F"/>
                </a:solidFill>
                <a:latin typeface="Cambria"/>
                <a:cs typeface="Cambria"/>
              </a:rPr>
              <a:t>Identical</a:t>
            </a:r>
            <a:r>
              <a:rPr dirty="0" sz="3200" spc="13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60">
                <a:solidFill>
                  <a:srgbClr val="2A2B2F"/>
                </a:solidFill>
                <a:latin typeface="Cambria"/>
                <a:cs typeface="Cambria"/>
              </a:rPr>
              <a:t>offers</a:t>
            </a:r>
            <a:r>
              <a:rPr dirty="0" sz="32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50">
                <a:solidFill>
                  <a:srgbClr val="2A2B2F"/>
                </a:solidFill>
                <a:latin typeface="Cambria"/>
                <a:cs typeface="Cambria"/>
              </a:rPr>
              <a:t>shown</a:t>
            </a:r>
            <a:r>
              <a:rPr dirty="0" sz="32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>
                <a:solidFill>
                  <a:srgbClr val="2A2B2F"/>
                </a:solidFill>
                <a:latin typeface="Cambria"/>
                <a:cs typeface="Cambria"/>
              </a:rPr>
              <a:t>to</a:t>
            </a:r>
            <a:r>
              <a:rPr dirty="0" sz="3200" spc="13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>
                <a:solidFill>
                  <a:srgbClr val="2A2B2F"/>
                </a:solidFill>
                <a:latin typeface="Cambria"/>
                <a:cs typeface="Cambria"/>
              </a:rPr>
              <a:t>all</a:t>
            </a:r>
            <a:r>
              <a:rPr dirty="0" sz="32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50">
                <a:solidFill>
                  <a:srgbClr val="2A2B2F"/>
                </a:solidFill>
                <a:latin typeface="Cambria"/>
                <a:cs typeface="Cambria"/>
              </a:rPr>
              <a:t>shoppers</a:t>
            </a:r>
            <a:endParaRPr sz="3200">
              <a:latin typeface="Cambria"/>
              <a:cs typeface="Cambria"/>
            </a:endParaRPr>
          </a:p>
          <a:p>
            <a:pPr marL="702945">
              <a:lnSpc>
                <a:spcPct val="100000"/>
              </a:lnSpc>
              <a:spcBef>
                <a:spcPts val="2085"/>
              </a:spcBef>
            </a:pPr>
            <a:r>
              <a:rPr dirty="0" sz="3200" spc="55">
                <a:solidFill>
                  <a:srgbClr val="2A2B2F"/>
                </a:solidFill>
                <a:latin typeface="Cambria"/>
                <a:cs typeface="Cambria"/>
              </a:rPr>
              <a:t>No</a:t>
            </a:r>
            <a:r>
              <a:rPr dirty="0" sz="3200" spc="20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50">
                <a:solidFill>
                  <a:srgbClr val="2A2B2F"/>
                </a:solidFill>
                <a:latin typeface="Cambria"/>
                <a:cs typeface="Cambria"/>
              </a:rPr>
              <a:t>personalization</a:t>
            </a:r>
            <a:r>
              <a:rPr dirty="0" sz="3200" spc="20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45">
                <a:solidFill>
                  <a:srgbClr val="2A2B2F"/>
                </a:solidFill>
                <a:latin typeface="Cambria"/>
                <a:cs typeface="Cambria"/>
              </a:rPr>
              <a:t>despite</a:t>
            </a:r>
            <a:r>
              <a:rPr dirty="0" sz="3200" spc="20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>
                <a:solidFill>
                  <a:srgbClr val="2A2B2F"/>
                </a:solidFill>
                <a:latin typeface="Cambria"/>
                <a:cs typeface="Cambria"/>
              </a:rPr>
              <a:t>available</a:t>
            </a:r>
            <a:r>
              <a:rPr dirty="0" sz="3200" spc="20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>
                <a:solidFill>
                  <a:srgbClr val="2A2B2F"/>
                </a:solidFill>
                <a:latin typeface="Cambria"/>
                <a:cs typeface="Cambria"/>
              </a:rPr>
              <a:t>behavioral</a:t>
            </a:r>
            <a:r>
              <a:rPr dirty="0" sz="3200" spc="20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-20">
                <a:solidFill>
                  <a:srgbClr val="2A2B2F"/>
                </a:solidFill>
                <a:latin typeface="Cambria"/>
                <a:cs typeface="Cambria"/>
              </a:rPr>
              <a:t>data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dirty="0" sz="3400" b="1">
                <a:solidFill>
                  <a:srgbClr val="2A2B2F"/>
                </a:solidFill>
                <a:latin typeface="Cambria"/>
                <a:cs typeface="Cambria"/>
              </a:rPr>
              <a:t>Untapped</a:t>
            </a:r>
            <a:r>
              <a:rPr dirty="0" sz="3400" spc="-5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400" b="1">
                <a:solidFill>
                  <a:srgbClr val="2A2B2F"/>
                </a:solidFill>
                <a:latin typeface="Cambria"/>
                <a:cs typeface="Cambria"/>
              </a:rPr>
              <a:t>Data</a:t>
            </a:r>
            <a:r>
              <a:rPr dirty="0" sz="3400" spc="-5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400" spc="-10" b="1">
                <a:solidFill>
                  <a:srgbClr val="2A2B2F"/>
                </a:solidFill>
                <a:latin typeface="Cambria"/>
                <a:cs typeface="Cambria"/>
              </a:rPr>
              <a:t>Potential</a:t>
            </a:r>
            <a:endParaRPr sz="3400">
              <a:latin typeface="Cambria"/>
              <a:cs typeface="Cambria"/>
            </a:endParaRPr>
          </a:p>
          <a:p>
            <a:pPr marL="702945">
              <a:lnSpc>
                <a:spcPct val="100000"/>
              </a:lnSpc>
              <a:spcBef>
                <a:spcPts val="2195"/>
              </a:spcBef>
            </a:pPr>
            <a:r>
              <a:rPr dirty="0" sz="3200" spc="65">
                <a:solidFill>
                  <a:srgbClr val="2A2B2F"/>
                </a:solidFill>
                <a:latin typeface="Cambria"/>
                <a:cs typeface="Cambria"/>
              </a:rPr>
              <a:t>Historical</a:t>
            </a:r>
            <a:r>
              <a:rPr dirty="0" sz="3200" spc="15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60">
                <a:solidFill>
                  <a:srgbClr val="2A2B2F"/>
                </a:solidFill>
                <a:latin typeface="Cambria"/>
                <a:cs typeface="Cambria"/>
              </a:rPr>
              <a:t>transaction</a:t>
            </a:r>
            <a:r>
              <a:rPr dirty="0" sz="3200" spc="15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>
                <a:solidFill>
                  <a:srgbClr val="2A2B2F"/>
                </a:solidFill>
                <a:latin typeface="Cambria"/>
                <a:cs typeface="Cambria"/>
              </a:rPr>
              <a:t>data</a:t>
            </a:r>
            <a:r>
              <a:rPr dirty="0" sz="3200" spc="15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50">
                <a:solidFill>
                  <a:srgbClr val="2A2B2F"/>
                </a:solidFill>
                <a:latin typeface="Cambria"/>
                <a:cs typeface="Cambria"/>
              </a:rPr>
              <a:t>underutilized</a:t>
            </a:r>
            <a:endParaRPr sz="3200">
              <a:latin typeface="Cambria"/>
              <a:cs typeface="Cambria"/>
            </a:endParaRPr>
          </a:p>
          <a:p>
            <a:pPr marL="702945">
              <a:lnSpc>
                <a:spcPct val="100000"/>
              </a:lnSpc>
              <a:spcBef>
                <a:spcPts val="2085"/>
              </a:spcBef>
            </a:pPr>
            <a:r>
              <a:rPr dirty="0" sz="3200" spc="60">
                <a:solidFill>
                  <a:srgbClr val="2A2B2F"/>
                </a:solidFill>
                <a:latin typeface="Cambria"/>
                <a:cs typeface="Cambria"/>
              </a:rPr>
              <a:t>Insights</a:t>
            </a:r>
            <a:r>
              <a:rPr dirty="0" sz="3200" spc="11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60">
                <a:solidFill>
                  <a:srgbClr val="2A2B2F"/>
                </a:solidFill>
                <a:latin typeface="Cambria"/>
                <a:cs typeface="Cambria"/>
              </a:rPr>
              <a:t>not</a:t>
            </a:r>
            <a:r>
              <a:rPr dirty="0" sz="3200" spc="11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55">
                <a:solidFill>
                  <a:srgbClr val="2A2B2F"/>
                </a:solidFill>
                <a:latin typeface="Cambria"/>
                <a:cs typeface="Cambria"/>
              </a:rPr>
              <a:t>converted</a:t>
            </a:r>
            <a:r>
              <a:rPr dirty="0" sz="3200" spc="11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55">
                <a:solidFill>
                  <a:srgbClr val="2A2B2F"/>
                </a:solidFill>
                <a:latin typeface="Cambria"/>
                <a:cs typeface="Cambria"/>
              </a:rPr>
              <a:t>into</a:t>
            </a:r>
            <a:r>
              <a:rPr dirty="0" sz="3200" spc="11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45">
                <a:solidFill>
                  <a:srgbClr val="2A2B2F"/>
                </a:solidFill>
                <a:latin typeface="Cambria"/>
                <a:cs typeface="Cambria"/>
              </a:rPr>
              <a:t>actionable</a:t>
            </a:r>
            <a:r>
              <a:rPr dirty="0" sz="3200" spc="11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200" spc="60">
                <a:solidFill>
                  <a:srgbClr val="2A2B2F"/>
                </a:solidFill>
                <a:latin typeface="Cambria"/>
                <a:cs typeface="Cambria"/>
              </a:rPr>
              <a:t>recommendations</a:t>
            </a:r>
            <a:endParaRPr sz="3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003" y="3360997"/>
            <a:ext cx="152400" cy="1523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003" y="3970597"/>
            <a:ext cx="152400" cy="1523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003" y="4580197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003" y="5875597"/>
            <a:ext cx="152400" cy="152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003" y="6485197"/>
            <a:ext cx="152400" cy="1523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003" y="7094797"/>
            <a:ext cx="152400" cy="1523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7003" y="7704397"/>
            <a:ext cx="152400" cy="1523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81878" y="2339141"/>
            <a:ext cx="10480675" cy="568134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3700" spc="70" b="1">
                <a:solidFill>
                  <a:srgbClr val="2A2B2F"/>
                </a:solidFill>
                <a:latin typeface="Cambria"/>
                <a:cs typeface="Cambria"/>
              </a:rPr>
              <a:t>Chosen</a:t>
            </a:r>
            <a:r>
              <a:rPr dirty="0" sz="3700" spc="10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700" spc="85" b="1">
                <a:solidFill>
                  <a:srgbClr val="2A2B2F"/>
                </a:solidFill>
                <a:latin typeface="Cambria"/>
                <a:cs typeface="Cambria"/>
              </a:rPr>
              <a:t>GenAI</a:t>
            </a:r>
            <a:r>
              <a:rPr dirty="0" sz="3700" spc="10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700" spc="-10" b="1">
                <a:solidFill>
                  <a:srgbClr val="2A2B2F"/>
                </a:solidFill>
                <a:latin typeface="Cambria"/>
                <a:cs typeface="Cambria"/>
              </a:rPr>
              <a:t>Capabilities</a:t>
            </a:r>
            <a:endParaRPr sz="3700">
              <a:latin typeface="Cambria"/>
              <a:cs typeface="Cambria"/>
            </a:endParaRPr>
          </a:p>
          <a:p>
            <a:pPr marL="724535" marR="1472565">
              <a:lnSpc>
                <a:spcPct val="121200"/>
              </a:lnSpc>
              <a:spcBef>
                <a:spcPts val="70"/>
              </a:spcBef>
            </a:pPr>
            <a:r>
              <a:rPr dirty="0" sz="3300" spc="185">
                <a:solidFill>
                  <a:srgbClr val="2A2B2F"/>
                </a:solidFill>
                <a:latin typeface="Cambria"/>
                <a:cs typeface="Cambria"/>
              </a:rPr>
              <a:t>Context-</a:t>
            </a:r>
            <a:r>
              <a:rPr dirty="0" sz="3300">
                <a:solidFill>
                  <a:srgbClr val="2A2B2F"/>
                </a:solidFill>
                <a:latin typeface="Cambria"/>
                <a:cs typeface="Cambria"/>
              </a:rPr>
              <a:t>aware</a:t>
            </a:r>
            <a:r>
              <a:rPr dirty="0" sz="3300" spc="25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95">
                <a:solidFill>
                  <a:srgbClr val="2A2B2F"/>
                </a:solidFill>
                <a:latin typeface="Cambria"/>
                <a:cs typeface="Cambria"/>
              </a:rPr>
              <a:t>product</a:t>
            </a:r>
            <a:r>
              <a:rPr dirty="0" sz="3300" spc="25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90">
                <a:solidFill>
                  <a:srgbClr val="2A2B2F"/>
                </a:solidFill>
                <a:latin typeface="Cambria"/>
                <a:cs typeface="Cambria"/>
              </a:rPr>
              <a:t>recommendations </a:t>
            </a:r>
            <a:r>
              <a:rPr dirty="0" sz="3300" spc="110">
                <a:solidFill>
                  <a:srgbClr val="2A2B2F"/>
                </a:solidFill>
                <a:latin typeface="Cambria"/>
                <a:cs typeface="Cambria"/>
              </a:rPr>
              <a:t>Dynamic</a:t>
            </a:r>
            <a:r>
              <a:rPr dirty="0" sz="3300" spc="15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natural-</a:t>
            </a:r>
            <a:r>
              <a:rPr dirty="0" sz="3300" spc="80">
                <a:solidFill>
                  <a:srgbClr val="2A2B2F"/>
                </a:solidFill>
                <a:latin typeface="Cambria"/>
                <a:cs typeface="Cambria"/>
              </a:rPr>
              <a:t>language</a:t>
            </a:r>
            <a:r>
              <a:rPr dirty="0" sz="3300" spc="15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85">
                <a:solidFill>
                  <a:srgbClr val="2A2B2F"/>
                </a:solidFill>
                <a:latin typeface="Cambria"/>
                <a:cs typeface="Cambria"/>
              </a:rPr>
              <a:t>offer</a:t>
            </a:r>
            <a:r>
              <a:rPr dirty="0" sz="3300" spc="15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75">
                <a:solidFill>
                  <a:srgbClr val="2A2B2F"/>
                </a:solidFill>
                <a:latin typeface="Cambria"/>
                <a:cs typeface="Cambria"/>
              </a:rPr>
              <a:t>generation </a:t>
            </a:r>
            <a:r>
              <a:rPr dirty="0" sz="3300" spc="90">
                <a:solidFill>
                  <a:srgbClr val="2A2B2F"/>
                </a:solidFill>
                <a:latin typeface="Cambria"/>
                <a:cs typeface="Cambria"/>
              </a:rPr>
              <a:t>Conversational</a:t>
            </a:r>
            <a:r>
              <a:rPr dirty="0" sz="330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90">
                <a:solidFill>
                  <a:srgbClr val="2A2B2F"/>
                </a:solidFill>
                <a:latin typeface="Cambria"/>
                <a:cs typeface="Cambria"/>
              </a:rPr>
              <a:t>shopping</a:t>
            </a:r>
            <a:r>
              <a:rPr dirty="0" sz="3300" spc="15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65">
                <a:solidFill>
                  <a:srgbClr val="2A2B2F"/>
                </a:solidFill>
                <a:latin typeface="Cambria"/>
                <a:cs typeface="Cambria"/>
              </a:rPr>
              <a:t>assistance</a:t>
            </a:r>
            <a:endParaRPr sz="3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3700" b="1">
                <a:solidFill>
                  <a:srgbClr val="2A2B2F"/>
                </a:solidFill>
                <a:latin typeface="Cambria"/>
                <a:cs typeface="Cambria"/>
              </a:rPr>
              <a:t>Why</a:t>
            </a:r>
            <a:r>
              <a:rPr dirty="0" sz="3700" spc="5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700" b="1">
                <a:solidFill>
                  <a:srgbClr val="2A2B2F"/>
                </a:solidFill>
                <a:latin typeface="Cambria"/>
                <a:cs typeface="Cambria"/>
              </a:rPr>
              <a:t>These</a:t>
            </a:r>
            <a:r>
              <a:rPr dirty="0" sz="3700" spc="5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700" b="1">
                <a:solidFill>
                  <a:srgbClr val="2A2B2F"/>
                </a:solidFill>
                <a:latin typeface="Cambria"/>
                <a:cs typeface="Cambria"/>
              </a:rPr>
              <a:t>Use</a:t>
            </a:r>
            <a:r>
              <a:rPr dirty="0" sz="3700" spc="6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700" spc="50" b="1">
                <a:solidFill>
                  <a:srgbClr val="2A2B2F"/>
                </a:solidFill>
                <a:latin typeface="Cambria"/>
                <a:cs typeface="Cambria"/>
              </a:rPr>
              <a:t>Cases</a:t>
            </a:r>
            <a:endParaRPr sz="3700">
              <a:latin typeface="Cambria"/>
              <a:cs typeface="Cambria"/>
            </a:endParaRPr>
          </a:p>
          <a:p>
            <a:pPr marL="724535" marR="1247140">
              <a:lnSpc>
                <a:spcPct val="121200"/>
              </a:lnSpc>
              <a:spcBef>
                <a:spcPts val="70"/>
              </a:spcBef>
            </a:pPr>
            <a:r>
              <a:rPr dirty="0" sz="3300" spc="110">
                <a:solidFill>
                  <a:srgbClr val="2A2B2F"/>
                </a:solidFill>
                <a:latin typeface="Cambria"/>
                <a:cs typeface="Cambria"/>
              </a:rPr>
              <a:t>Direct</a:t>
            </a: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85">
                <a:solidFill>
                  <a:srgbClr val="2A2B2F"/>
                </a:solidFill>
                <a:latin typeface="Cambria"/>
                <a:cs typeface="Cambria"/>
              </a:rPr>
              <a:t>and</a:t>
            </a:r>
            <a:r>
              <a:rPr dirty="0" sz="33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70">
                <a:solidFill>
                  <a:srgbClr val="2A2B2F"/>
                </a:solidFill>
                <a:latin typeface="Cambria"/>
                <a:cs typeface="Cambria"/>
              </a:rPr>
              <a:t>measurable</a:t>
            </a:r>
            <a:r>
              <a:rPr dirty="0" sz="33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95">
                <a:solidFill>
                  <a:srgbClr val="2A2B2F"/>
                </a:solidFill>
                <a:latin typeface="Cambria"/>
                <a:cs typeface="Cambria"/>
              </a:rPr>
              <a:t>impact</a:t>
            </a:r>
            <a:r>
              <a:rPr dirty="0" sz="33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95">
                <a:solidFill>
                  <a:srgbClr val="2A2B2F"/>
                </a:solidFill>
                <a:latin typeface="Cambria"/>
                <a:cs typeface="Cambria"/>
              </a:rPr>
              <a:t>on</a:t>
            </a: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60">
                <a:solidFill>
                  <a:srgbClr val="2A2B2F"/>
                </a:solidFill>
                <a:latin typeface="Cambria"/>
                <a:cs typeface="Cambria"/>
              </a:rPr>
              <a:t>basket</a:t>
            </a:r>
            <a:r>
              <a:rPr dirty="0" sz="33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40">
                <a:solidFill>
                  <a:srgbClr val="2A2B2F"/>
                </a:solidFill>
                <a:latin typeface="Cambria"/>
                <a:cs typeface="Cambria"/>
              </a:rPr>
              <a:t>size </a:t>
            </a:r>
            <a:r>
              <a:rPr dirty="0" sz="3300" spc="95">
                <a:solidFill>
                  <a:srgbClr val="2A2B2F"/>
                </a:solidFill>
                <a:latin typeface="Cambria"/>
                <a:cs typeface="Cambria"/>
              </a:rPr>
              <a:t>Minimal</a:t>
            </a:r>
            <a:r>
              <a:rPr dirty="0" sz="33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85">
                <a:solidFill>
                  <a:srgbClr val="2A2B2F"/>
                </a:solidFill>
                <a:latin typeface="Cambria"/>
                <a:cs typeface="Cambria"/>
              </a:rPr>
              <a:t>disruption</a:t>
            </a:r>
            <a:r>
              <a:rPr dirty="0" sz="330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60">
                <a:solidFill>
                  <a:srgbClr val="2A2B2F"/>
                </a:solidFill>
                <a:latin typeface="Cambria"/>
                <a:cs typeface="Cambria"/>
              </a:rPr>
              <a:t>to</a:t>
            </a:r>
            <a:r>
              <a:rPr dirty="0" sz="330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85">
                <a:solidFill>
                  <a:srgbClr val="2A2B2F"/>
                </a:solidFill>
                <a:latin typeface="Cambria"/>
                <a:cs typeface="Cambria"/>
              </a:rPr>
              <a:t>existing</a:t>
            </a:r>
            <a:r>
              <a:rPr dirty="0" sz="3300" spc="14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65">
                <a:solidFill>
                  <a:srgbClr val="2A2B2F"/>
                </a:solidFill>
                <a:latin typeface="Cambria"/>
                <a:cs typeface="Cambria"/>
              </a:rPr>
              <a:t>systems</a:t>
            </a:r>
            <a:endParaRPr sz="3300">
              <a:latin typeface="Cambria"/>
              <a:cs typeface="Cambria"/>
            </a:endParaRPr>
          </a:p>
          <a:p>
            <a:pPr marL="724535">
              <a:lnSpc>
                <a:spcPct val="100000"/>
              </a:lnSpc>
              <a:spcBef>
                <a:spcPts val="840"/>
              </a:spcBef>
            </a:pP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High</a:t>
            </a:r>
            <a:r>
              <a:rPr dirty="0" sz="33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70">
                <a:solidFill>
                  <a:srgbClr val="2A2B2F"/>
                </a:solidFill>
                <a:latin typeface="Cambria"/>
                <a:cs typeface="Cambria"/>
              </a:rPr>
              <a:t>likelihood</a:t>
            </a:r>
            <a:r>
              <a:rPr dirty="0" sz="33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75">
                <a:solidFill>
                  <a:srgbClr val="2A2B2F"/>
                </a:solidFill>
                <a:latin typeface="Cambria"/>
                <a:cs typeface="Cambria"/>
              </a:rPr>
              <a:t>of</a:t>
            </a:r>
            <a:r>
              <a:rPr dirty="0" sz="33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100">
                <a:solidFill>
                  <a:srgbClr val="2A2B2F"/>
                </a:solidFill>
                <a:latin typeface="Cambria"/>
                <a:cs typeface="Cambria"/>
              </a:rPr>
              <a:t>customer</a:t>
            </a:r>
            <a:r>
              <a:rPr dirty="0" sz="33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85">
                <a:solidFill>
                  <a:srgbClr val="2A2B2F"/>
                </a:solidFill>
                <a:latin typeface="Cambria"/>
                <a:cs typeface="Cambria"/>
              </a:rPr>
              <a:t>acceptance</a:t>
            </a:r>
            <a:endParaRPr sz="3300">
              <a:latin typeface="Cambria"/>
              <a:cs typeface="Cambria"/>
            </a:endParaRPr>
          </a:p>
          <a:p>
            <a:pPr marL="724535">
              <a:lnSpc>
                <a:spcPct val="100000"/>
              </a:lnSpc>
              <a:spcBef>
                <a:spcPts val="840"/>
              </a:spcBef>
            </a:pPr>
            <a:r>
              <a:rPr dirty="0" sz="3300" spc="80">
                <a:solidFill>
                  <a:srgbClr val="2A2B2F"/>
                </a:solidFill>
                <a:latin typeface="Cambria"/>
                <a:cs typeface="Cambria"/>
              </a:rPr>
              <a:t>Seamless</a:t>
            </a: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85">
                <a:solidFill>
                  <a:srgbClr val="2A2B2F"/>
                </a:solidFill>
                <a:latin typeface="Cambria"/>
                <a:cs typeface="Cambria"/>
              </a:rPr>
              <a:t>integration</a:t>
            </a: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55">
                <a:solidFill>
                  <a:srgbClr val="2A2B2F"/>
                </a:solidFill>
                <a:latin typeface="Cambria"/>
                <a:cs typeface="Cambria"/>
              </a:rPr>
              <a:t>with</a:t>
            </a: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155">
                <a:solidFill>
                  <a:srgbClr val="2A2B2F"/>
                </a:solidFill>
                <a:latin typeface="Cambria"/>
                <a:cs typeface="Cambria"/>
              </a:rPr>
              <a:t>POS</a:t>
            </a: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85">
                <a:solidFill>
                  <a:srgbClr val="2A2B2F"/>
                </a:solidFill>
                <a:latin typeface="Cambria"/>
                <a:cs typeface="Cambria"/>
              </a:rPr>
              <a:t>and</a:t>
            </a: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70">
                <a:solidFill>
                  <a:srgbClr val="2A2B2F"/>
                </a:solidFill>
                <a:latin typeface="Cambria"/>
                <a:cs typeface="Cambria"/>
              </a:rPr>
              <a:t>digital</a:t>
            </a:r>
            <a:r>
              <a:rPr dirty="0" sz="33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300" spc="85">
                <a:solidFill>
                  <a:srgbClr val="2A2B2F"/>
                </a:solidFill>
                <a:latin typeface="Cambria"/>
                <a:cs typeface="Cambria"/>
              </a:rPr>
              <a:t>channels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4400" spc="385">
                <a:solidFill>
                  <a:srgbClr val="2A2B2F"/>
                </a:solidFill>
              </a:rPr>
              <a:t>SELECTED</a:t>
            </a:r>
            <a:r>
              <a:rPr dirty="0" sz="4400" spc="290">
                <a:solidFill>
                  <a:srgbClr val="2A2B2F"/>
                </a:solidFill>
              </a:rPr>
              <a:t> </a:t>
            </a:r>
            <a:r>
              <a:rPr dirty="0" sz="4400" spc="280">
                <a:solidFill>
                  <a:srgbClr val="2A2B2F"/>
                </a:solidFill>
              </a:rPr>
              <a:t>GENAI</a:t>
            </a:r>
            <a:r>
              <a:rPr dirty="0" sz="4400" spc="290">
                <a:solidFill>
                  <a:srgbClr val="2A2B2F"/>
                </a:solidFill>
              </a:rPr>
              <a:t> APPLICATIONS</a:t>
            </a:r>
            <a:endParaRPr sz="4400"/>
          </a:p>
        </p:txBody>
      </p:sp>
      <p:sp>
        <p:nvSpPr>
          <p:cNvPr id="11" name="object 11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3900" spc="170">
                <a:solidFill>
                  <a:srgbClr val="2A2B2F"/>
                </a:solidFill>
              </a:rPr>
              <a:t>GENAI</a:t>
            </a:r>
            <a:r>
              <a:rPr dirty="0" sz="3900" spc="60">
                <a:solidFill>
                  <a:srgbClr val="2A2B2F"/>
                </a:solidFill>
              </a:rPr>
              <a:t> </a:t>
            </a:r>
            <a:r>
              <a:rPr dirty="0" sz="3900" spc="180">
                <a:solidFill>
                  <a:srgbClr val="2A2B2F"/>
                </a:solidFill>
              </a:rPr>
              <a:t>USE</a:t>
            </a:r>
            <a:r>
              <a:rPr dirty="0" sz="3900" spc="60">
                <a:solidFill>
                  <a:srgbClr val="2A2B2F"/>
                </a:solidFill>
              </a:rPr>
              <a:t> </a:t>
            </a:r>
            <a:r>
              <a:rPr dirty="0" sz="3900" spc="260">
                <a:solidFill>
                  <a:srgbClr val="2A2B2F"/>
                </a:solidFill>
              </a:rPr>
              <a:t>CASE</a:t>
            </a:r>
            <a:r>
              <a:rPr dirty="0" sz="3900" spc="60">
                <a:solidFill>
                  <a:srgbClr val="2A2B2F"/>
                </a:solidFill>
              </a:rPr>
              <a:t> </a:t>
            </a:r>
            <a:r>
              <a:rPr dirty="0" sz="3900" spc="-400">
                <a:solidFill>
                  <a:srgbClr val="2A2B2F"/>
                </a:solidFill>
              </a:rPr>
              <a:t>1:</a:t>
            </a:r>
            <a:r>
              <a:rPr dirty="0" sz="3900" spc="60">
                <a:solidFill>
                  <a:srgbClr val="2A2B2F"/>
                </a:solidFill>
              </a:rPr>
              <a:t> </a:t>
            </a:r>
            <a:r>
              <a:rPr dirty="0" sz="3900" spc="210">
                <a:solidFill>
                  <a:srgbClr val="2A2B2F"/>
                </a:solidFill>
              </a:rPr>
              <a:t>CONTEXTUAL</a:t>
            </a:r>
            <a:r>
              <a:rPr dirty="0" sz="3900" spc="65">
                <a:solidFill>
                  <a:srgbClr val="2A2B2F"/>
                </a:solidFill>
              </a:rPr>
              <a:t> </a:t>
            </a:r>
            <a:r>
              <a:rPr dirty="0" sz="3900" spc="220">
                <a:solidFill>
                  <a:srgbClr val="2A2B2F"/>
                </a:solidFill>
              </a:rPr>
              <a:t>PRODUCT</a:t>
            </a:r>
            <a:r>
              <a:rPr dirty="0" sz="3900" spc="60">
                <a:solidFill>
                  <a:srgbClr val="2A2B2F"/>
                </a:solidFill>
              </a:rPr>
              <a:t> </a:t>
            </a:r>
            <a:r>
              <a:rPr dirty="0" sz="3900" spc="225">
                <a:solidFill>
                  <a:srgbClr val="2A2B2F"/>
                </a:solidFill>
              </a:rPr>
              <a:t>RECOMMENDATIONS</a:t>
            </a:r>
            <a:endParaRPr sz="3900"/>
          </a:p>
        </p:txBody>
      </p:sp>
      <p:sp>
        <p:nvSpPr>
          <p:cNvPr id="3" name="object 3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666" y="3424152"/>
            <a:ext cx="142875" cy="1428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666" y="4005177"/>
            <a:ext cx="142875" cy="1428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666" y="4586202"/>
            <a:ext cx="142875" cy="1428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666" y="5862551"/>
            <a:ext cx="142875" cy="1428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666" y="6443576"/>
            <a:ext cx="142875" cy="1428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0666" y="7700876"/>
            <a:ext cx="142875" cy="1428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54116" y="2395969"/>
            <a:ext cx="10197465" cy="560641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3700" spc="50" b="1">
                <a:solidFill>
                  <a:srgbClr val="2A2B2F"/>
                </a:solidFill>
                <a:latin typeface="Cambria"/>
                <a:cs typeface="Cambria"/>
              </a:rPr>
              <a:t>How</a:t>
            </a:r>
            <a:r>
              <a:rPr dirty="0" sz="3700" spc="7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700" b="1">
                <a:solidFill>
                  <a:srgbClr val="2A2B2F"/>
                </a:solidFill>
                <a:latin typeface="Cambria"/>
                <a:cs typeface="Cambria"/>
              </a:rPr>
              <a:t>It</a:t>
            </a:r>
            <a:r>
              <a:rPr dirty="0" sz="3700" spc="7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700" spc="-10" b="1">
                <a:solidFill>
                  <a:srgbClr val="2A2B2F"/>
                </a:solidFill>
                <a:latin typeface="Cambria"/>
                <a:cs typeface="Cambria"/>
              </a:rPr>
              <a:t>Works</a:t>
            </a:r>
            <a:endParaRPr sz="3700">
              <a:latin typeface="Cambria"/>
              <a:cs typeface="Cambria"/>
            </a:endParaRPr>
          </a:p>
          <a:p>
            <a:pPr marL="681355" marR="2262505">
              <a:lnSpc>
                <a:spcPct val="123000"/>
              </a:lnSpc>
              <a:spcBef>
                <a:spcPts val="105"/>
              </a:spcBef>
            </a:pP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Analyzes</a:t>
            </a:r>
            <a:r>
              <a:rPr dirty="0" sz="3100" spc="19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55">
                <a:solidFill>
                  <a:srgbClr val="2A2B2F"/>
                </a:solidFill>
                <a:latin typeface="Cambria"/>
                <a:cs typeface="Cambria"/>
              </a:rPr>
              <a:t>historical</a:t>
            </a:r>
            <a:r>
              <a:rPr dirty="0" sz="3100" spc="19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0">
                <a:solidFill>
                  <a:srgbClr val="2A2B2F"/>
                </a:solidFill>
                <a:latin typeface="Cambria"/>
                <a:cs typeface="Cambria"/>
              </a:rPr>
              <a:t>purchase</a:t>
            </a:r>
            <a:r>
              <a:rPr dirty="0" sz="3100" spc="19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45">
                <a:solidFill>
                  <a:srgbClr val="2A2B2F"/>
                </a:solidFill>
                <a:latin typeface="Cambria"/>
                <a:cs typeface="Cambria"/>
              </a:rPr>
              <a:t>patterns </a:t>
            </a:r>
            <a:r>
              <a:rPr dirty="0" sz="3100" spc="55">
                <a:solidFill>
                  <a:srgbClr val="2A2B2F"/>
                </a:solidFill>
                <a:latin typeface="Cambria"/>
                <a:cs typeface="Cambria"/>
              </a:rPr>
              <a:t>Identifies</a:t>
            </a:r>
            <a:r>
              <a:rPr dirty="0" sz="3100" spc="12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50">
                <a:solidFill>
                  <a:srgbClr val="2A2B2F"/>
                </a:solidFill>
                <a:latin typeface="Cambria"/>
                <a:cs typeface="Cambria"/>
              </a:rPr>
              <a:t>frequently</a:t>
            </a:r>
            <a:r>
              <a:rPr dirty="0" sz="3100" spc="11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220">
                <a:solidFill>
                  <a:srgbClr val="2A2B2F"/>
                </a:solidFill>
                <a:latin typeface="Cambria"/>
                <a:cs typeface="Cambria"/>
              </a:rPr>
              <a:t>co-</a:t>
            </a:r>
            <a:r>
              <a:rPr dirty="0" sz="3100" spc="65">
                <a:solidFill>
                  <a:srgbClr val="2A2B2F"/>
                </a:solidFill>
                <a:latin typeface="Cambria"/>
                <a:cs typeface="Cambria"/>
              </a:rPr>
              <a:t>purchased</a:t>
            </a:r>
            <a:r>
              <a:rPr dirty="0" sz="3100" spc="12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50">
                <a:solidFill>
                  <a:srgbClr val="2A2B2F"/>
                </a:solidFill>
                <a:latin typeface="Cambria"/>
                <a:cs typeface="Cambria"/>
              </a:rPr>
              <a:t>items</a:t>
            </a:r>
            <a:endParaRPr sz="3100">
              <a:latin typeface="Cambria"/>
              <a:cs typeface="Cambria"/>
            </a:endParaRPr>
          </a:p>
          <a:p>
            <a:pPr marL="681355">
              <a:lnSpc>
                <a:spcPct val="100000"/>
              </a:lnSpc>
              <a:spcBef>
                <a:spcPts val="855"/>
              </a:spcBef>
            </a:pPr>
            <a:r>
              <a:rPr dirty="0" sz="3100" spc="70">
                <a:solidFill>
                  <a:srgbClr val="2A2B2F"/>
                </a:solidFill>
                <a:latin typeface="Cambria"/>
                <a:cs typeface="Cambria"/>
              </a:rPr>
              <a:t>Detects</a:t>
            </a:r>
            <a:r>
              <a:rPr dirty="0" sz="31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0">
                <a:solidFill>
                  <a:srgbClr val="2A2B2F"/>
                </a:solidFill>
                <a:latin typeface="Cambria"/>
                <a:cs typeface="Cambria"/>
              </a:rPr>
              <a:t>missing</a:t>
            </a:r>
            <a:r>
              <a:rPr dirty="0" sz="31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65">
                <a:solidFill>
                  <a:srgbClr val="2A2B2F"/>
                </a:solidFill>
                <a:latin typeface="Cambria"/>
                <a:cs typeface="Cambria"/>
              </a:rPr>
              <a:t>complementary</a:t>
            </a:r>
            <a:r>
              <a:rPr dirty="0" sz="3100" spc="12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65">
                <a:solidFill>
                  <a:srgbClr val="2A2B2F"/>
                </a:solidFill>
                <a:latin typeface="Cambria"/>
                <a:cs typeface="Cambria"/>
              </a:rPr>
              <a:t>products</a:t>
            </a:r>
            <a:r>
              <a:rPr dirty="0" sz="31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80">
                <a:solidFill>
                  <a:srgbClr val="2A2B2F"/>
                </a:solidFill>
                <a:latin typeface="Cambria"/>
                <a:cs typeface="Cambria"/>
              </a:rPr>
              <a:t>in</a:t>
            </a:r>
            <a:r>
              <a:rPr dirty="0" sz="3100" spc="13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real</a:t>
            </a:r>
            <a:r>
              <a:rPr dirty="0" sz="3100" spc="14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45">
                <a:solidFill>
                  <a:srgbClr val="2A2B2F"/>
                </a:solidFill>
                <a:latin typeface="Cambria"/>
                <a:cs typeface="Cambria"/>
              </a:rPr>
              <a:t>time</a:t>
            </a:r>
            <a:endParaRPr sz="3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3700" b="1">
                <a:solidFill>
                  <a:srgbClr val="2A2B2F"/>
                </a:solidFill>
                <a:latin typeface="Cambria"/>
                <a:cs typeface="Cambria"/>
              </a:rPr>
              <a:t>Illustrative</a:t>
            </a:r>
            <a:r>
              <a:rPr dirty="0" sz="3700" spc="-204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700" spc="-10" b="1">
                <a:solidFill>
                  <a:srgbClr val="2A2B2F"/>
                </a:solidFill>
                <a:latin typeface="Cambria"/>
                <a:cs typeface="Cambria"/>
              </a:rPr>
              <a:t>Example</a:t>
            </a:r>
            <a:endParaRPr sz="3700">
              <a:latin typeface="Cambria"/>
              <a:cs typeface="Cambria"/>
            </a:endParaRPr>
          </a:p>
          <a:p>
            <a:pPr marL="681355" marR="3667760">
              <a:lnSpc>
                <a:spcPct val="123000"/>
              </a:lnSpc>
              <a:spcBef>
                <a:spcPts val="105"/>
              </a:spcBef>
            </a:pPr>
            <a:r>
              <a:rPr dirty="0" sz="3100" spc="114">
                <a:solidFill>
                  <a:srgbClr val="2A2B2F"/>
                </a:solidFill>
                <a:latin typeface="Cambria"/>
                <a:cs typeface="Cambria"/>
              </a:rPr>
              <a:t>Current</a:t>
            </a:r>
            <a:r>
              <a:rPr dirty="0" sz="3100" spc="20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basket:</a:t>
            </a:r>
            <a:r>
              <a:rPr dirty="0" sz="3100" spc="20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Bread</a:t>
            </a:r>
            <a:r>
              <a:rPr dirty="0" sz="3100" spc="20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100">
                <a:solidFill>
                  <a:srgbClr val="2A2B2F"/>
                </a:solidFill>
                <a:latin typeface="Cambria"/>
                <a:cs typeface="Cambria"/>
              </a:rPr>
              <a:t>+</a:t>
            </a:r>
            <a:r>
              <a:rPr dirty="0" sz="3100" spc="20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50">
                <a:solidFill>
                  <a:srgbClr val="2A2B2F"/>
                </a:solidFill>
                <a:latin typeface="Cambria"/>
                <a:cs typeface="Cambria"/>
              </a:rPr>
              <a:t>Milk </a:t>
            </a:r>
            <a:r>
              <a:rPr dirty="0" sz="3100" spc="95">
                <a:solidFill>
                  <a:srgbClr val="2A2B2F"/>
                </a:solidFill>
                <a:latin typeface="Cambria"/>
                <a:cs typeface="Cambria"/>
              </a:rPr>
              <a:t>GenAI</a:t>
            </a:r>
            <a:r>
              <a:rPr dirty="0" sz="3100" spc="10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50">
                <a:solidFill>
                  <a:srgbClr val="2A2B2F"/>
                </a:solidFill>
                <a:latin typeface="Cambria"/>
                <a:cs typeface="Cambria"/>
              </a:rPr>
              <a:t>suggestion:</a:t>
            </a:r>
            <a:r>
              <a:rPr dirty="0" sz="3100" spc="10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0">
                <a:solidFill>
                  <a:srgbClr val="2A2B2F"/>
                </a:solidFill>
                <a:latin typeface="Cambria"/>
                <a:cs typeface="Cambria"/>
              </a:rPr>
              <a:t>Eggs</a:t>
            </a:r>
            <a:r>
              <a:rPr dirty="0" sz="3100" spc="10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55">
                <a:solidFill>
                  <a:srgbClr val="2A2B2F"/>
                </a:solidFill>
                <a:latin typeface="Cambria"/>
                <a:cs typeface="Cambria"/>
              </a:rPr>
              <a:t>or</a:t>
            </a:r>
            <a:r>
              <a:rPr dirty="0" sz="3100" spc="10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40">
                <a:solidFill>
                  <a:srgbClr val="2A2B2F"/>
                </a:solidFill>
                <a:latin typeface="Cambria"/>
                <a:cs typeface="Cambria"/>
              </a:rPr>
              <a:t>Butter</a:t>
            </a:r>
            <a:endParaRPr sz="3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3600" b="1">
                <a:solidFill>
                  <a:srgbClr val="2A2B2F"/>
                </a:solidFill>
                <a:latin typeface="Cambria"/>
                <a:cs typeface="Cambria"/>
              </a:rPr>
              <a:t>Expected</a:t>
            </a:r>
            <a:r>
              <a:rPr dirty="0" sz="3600" spc="3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600" spc="-10" b="1">
                <a:solidFill>
                  <a:srgbClr val="2A2B2F"/>
                </a:solidFill>
                <a:latin typeface="Cambria"/>
                <a:cs typeface="Cambria"/>
              </a:rPr>
              <a:t>Impact</a:t>
            </a:r>
            <a:endParaRPr sz="3600">
              <a:latin typeface="Cambria"/>
              <a:cs typeface="Cambria"/>
            </a:endParaRPr>
          </a:p>
          <a:p>
            <a:pPr marL="681355">
              <a:lnSpc>
                <a:spcPct val="100000"/>
              </a:lnSpc>
              <a:spcBef>
                <a:spcPts val="980"/>
              </a:spcBef>
            </a:pPr>
            <a:r>
              <a:rPr dirty="0" sz="3100" spc="-150">
                <a:solidFill>
                  <a:srgbClr val="2A2B2F"/>
                </a:solidFill>
                <a:latin typeface="Cambria"/>
                <a:cs typeface="Cambria"/>
              </a:rPr>
              <a:t>8–10%</a:t>
            </a:r>
            <a:r>
              <a:rPr dirty="0" sz="3100" spc="1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65">
                <a:solidFill>
                  <a:srgbClr val="2A2B2F"/>
                </a:solidFill>
                <a:latin typeface="Cambria"/>
                <a:cs typeface="Cambria"/>
              </a:rPr>
              <a:t>increase</a:t>
            </a:r>
            <a:r>
              <a:rPr dirty="0" sz="3100" spc="1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80">
                <a:solidFill>
                  <a:srgbClr val="2A2B2F"/>
                </a:solidFill>
                <a:latin typeface="Cambria"/>
                <a:cs typeface="Cambria"/>
              </a:rPr>
              <a:t>in</a:t>
            </a:r>
            <a:r>
              <a:rPr dirty="0" sz="3100" spc="1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Average</a:t>
            </a:r>
            <a:r>
              <a:rPr dirty="0" sz="3100" spc="1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>
                <a:solidFill>
                  <a:srgbClr val="2A2B2F"/>
                </a:solidFill>
                <a:latin typeface="Cambria"/>
                <a:cs typeface="Cambria"/>
              </a:rPr>
              <a:t>Basket</a:t>
            </a:r>
            <a:r>
              <a:rPr dirty="0" sz="3100" spc="1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40">
                <a:solidFill>
                  <a:srgbClr val="2A2B2F"/>
                </a:solidFill>
                <a:latin typeface="Cambria"/>
                <a:cs typeface="Cambria"/>
              </a:rPr>
              <a:t>Size</a:t>
            </a:r>
            <a:endParaRPr sz="3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300" spc="185">
                <a:solidFill>
                  <a:srgbClr val="2A2B2F"/>
                </a:solidFill>
              </a:rPr>
              <a:t>GENAI</a:t>
            </a:r>
            <a:r>
              <a:rPr dirty="0" sz="4300" spc="25">
                <a:solidFill>
                  <a:srgbClr val="2A2B2F"/>
                </a:solidFill>
              </a:rPr>
              <a:t> </a:t>
            </a:r>
            <a:r>
              <a:rPr dirty="0" sz="4300" spc="185">
                <a:solidFill>
                  <a:srgbClr val="2A2B2F"/>
                </a:solidFill>
              </a:rPr>
              <a:t>USE</a:t>
            </a:r>
            <a:r>
              <a:rPr dirty="0" sz="4300" spc="25">
                <a:solidFill>
                  <a:srgbClr val="2A2B2F"/>
                </a:solidFill>
              </a:rPr>
              <a:t> </a:t>
            </a:r>
            <a:r>
              <a:rPr dirty="0" sz="4300" spc="275">
                <a:solidFill>
                  <a:srgbClr val="2A2B2F"/>
                </a:solidFill>
              </a:rPr>
              <a:t>CASE</a:t>
            </a:r>
            <a:r>
              <a:rPr dirty="0" sz="4300" spc="25">
                <a:solidFill>
                  <a:srgbClr val="2A2B2F"/>
                </a:solidFill>
              </a:rPr>
              <a:t> </a:t>
            </a:r>
            <a:r>
              <a:rPr dirty="0" sz="4300">
                <a:solidFill>
                  <a:srgbClr val="2A2B2F"/>
                </a:solidFill>
              </a:rPr>
              <a:t>2:</a:t>
            </a:r>
            <a:r>
              <a:rPr dirty="0" sz="4300" spc="25">
                <a:solidFill>
                  <a:srgbClr val="2A2B2F"/>
                </a:solidFill>
              </a:rPr>
              <a:t> </a:t>
            </a:r>
            <a:r>
              <a:rPr dirty="0" sz="4300" spc="190">
                <a:solidFill>
                  <a:srgbClr val="2A2B2F"/>
                </a:solidFill>
              </a:rPr>
              <a:t>INTELLIGENT</a:t>
            </a:r>
            <a:r>
              <a:rPr dirty="0" sz="4300" spc="25">
                <a:solidFill>
                  <a:srgbClr val="2A2B2F"/>
                </a:solidFill>
              </a:rPr>
              <a:t> </a:t>
            </a:r>
            <a:r>
              <a:rPr dirty="0" sz="4300" spc="210">
                <a:solidFill>
                  <a:srgbClr val="2A2B2F"/>
                </a:solidFill>
              </a:rPr>
              <a:t>OFFER</a:t>
            </a:r>
            <a:r>
              <a:rPr dirty="0" sz="4300" spc="30">
                <a:solidFill>
                  <a:srgbClr val="2A2B2F"/>
                </a:solidFill>
              </a:rPr>
              <a:t> </a:t>
            </a:r>
            <a:r>
              <a:rPr dirty="0" sz="4300" spc="235">
                <a:solidFill>
                  <a:srgbClr val="2A2B2F"/>
                </a:solidFill>
              </a:rPr>
              <a:t>MESSAGING</a:t>
            </a:r>
            <a:endParaRPr sz="4300"/>
          </a:p>
        </p:txBody>
      </p:sp>
      <p:sp>
        <p:nvSpPr>
          <p:cNvPr id="3" name="object 3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41" y="3435582"/>
            <a:ext cx="161925" cy="1619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41" y="4111857"/>
            <a:ext cx="161925" cy="1619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41" y="8169506"/>
            <a:ext cx="161925" cy="16192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pc="-10"/>
              <a:t>Capability</a:t>
            </a:r>
          </a:p>
          <a:p>
            <a:pPr marL="789305" marR="3639820">
              <a:lnSpc>
                <a:spcPts val="5320"/>
              </a:lnSpc>
              <a:spcBef>
                <a:spcPts val="350"/>
              </a:spcBef>
            </a:pPr>
            <a:r>
              <a:rPr dirty="0" spc="95" b="0">
                <a:latin typeface="Cambria"/>
                <a:cs typeface="Cambria"/>
              </a:rPr>
              <a:t>Generates</a:t>
            </a:r>
            <a:r>
              <a:rPr dirty="0" spc="110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persuasive,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180" b="0">
                <a:latin typeface="Cambria"/>
                <a:cs typeface="Cambria"/>
              </a:rPr>
              <a:t>human-</a:t>
            </a:r>
            <a:r>
              <a:rPr dirty="0" spc="55" b="0">
                <a:latin typeface="Cambria"/>
                <a:cs typeface="Cambria"/>
              </a:rPr>
              <a:t>like</a:t>
            </a:r>
            <a:r>
              <a:rPr dirty="0" spc="110" b="0">
                <a:latin typeface="Cambria"/>
                <a:cs typeface="Cambria"/>
              </a:rPr>
              <a:t> </a:t>
            </a:r>
            <a:r>
              <a:rPr dirty="0" spc="80" b="0">
                <a:latin typeface="Cambria"/>
                <a:cs typeface="Cambria"/>
              </a:rPr>
              <a:t>offer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messages </a:t>
            </a:r>
            <a:r>
              <a:rPr dirty="0" spc="65" b="0">
                <a:latin typeface="Cambria"/>
                <a:cs typeface="Cambria"/>
              </a:rPr>
              <a:t>Replaces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static</a:t>
            </a:r>
            <a:r>
              <a:rPr dirty="0" spc="120" b="0">
                <a:latin typeface="Cambria"/>
                <a:cs typeface="Cambria"/>
              </a:rPr>
              <a:t> </a:t>
            </a:r>
            <a:r>
              <a:rPr dirty="0" spc="65" b="0">
                <a:latin typeface="Cambria"/>
                <a:cs typeface="Cambria"/>
              </a:rPr>
              <a:t>and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95" b="0">
                <a:latin typeface="Cambria"/>
                <a:cs typeface="Cambria"/>
              </a:rPr>
              <a:t>generic</a:t>
            </a:r>
            <a:r>
              <a:rPr dirty="0" spc="120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discount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70" b="0">
                <a:latin typeface="Cambria"/>
                <a:cs typeface="Cambria"/>
              </a:rPr>
              <a:t>prompts</a:t>
            </a: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pc="-10"/>
              <a:t>Example:</a:t>
            </a:r>
          </a:p>
          <a:p>
            <a:pPr marL="922655">
              <a:lnSpc>
                <a:spcPct val="100000"/>
              </a:lnSpc>
              <a:spcBef>
                <a:spcPts val="1005"/>
              </a:spcBef>
            </a:pPr>
            <a:r>
              <a:rPr dirty="0" spc="80" b="0">
                <a:latin typeface="Cambria"/>
                <a:cs typeface="Cambria"/>
              </a:rPr>
              <a:t>Conventional:</a:t>
            </a:r>
            <a:r>
              <a:rPr dirty="0" spc="110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“Add</a:t>
            </a:r>
            <a:r>
              <a:rPr dirty="0" spc="110" b="0">
                <a:latin typeface="Cambria"/>
                <a:cs typeface="Cambria"/>
              </a:rPr>
              <a:t> </a:t>
            </a:r>
            <a:r>
              <a:rPr dirty="0" spc="85" b="0">
                <a:latin typeface="Cambria"/>
                <a:cs typeface="Cambria"/>
              </a:rPr>
              <a:t>eggs</a:t>
            </a:r>
            <a:r>
              <a:rPr dirty="0" spc="110" b="0">
                <a:latin typeface="Cambria"/>
                <a:cs typeface="Cambria"/>
              </a:rPr>
              <a:t> </a:t>
            </a:r>
            <a:r>
              <a:rPr dirty="0" spc="250" b="0">
                <a:latin typeface="Cambria"/>
                <a:cs typeface="Cambria"/>
              </a:rPr>
              <a:t>–</a:t>
            </a:r>
            <a:r>
              <a:rPr dirty="0" spc="110" b="0">
                <a:latin typeface="Cambria"/>
                <a:cs typeface="Cambria"/>
              </a:rPr>
              <a:t> </a:t>
            </a:r>
            <a:r>
              <a:rPr dirty="0" spc="80" b="0">
                <a:latin typeface="Cambria"/>
                <a:cs typeface="Cambria"/>
              </a:rPr>
              <a:t>get</a:t>
            </a:r>
            <a:r>
              <a:rPr dirty="0" spc="110" b="0">
                <a:latin typeface="Cambria"/>
                <a:cs typeface="Cambria"/>
              </a:rPr>
              <a:t> </a:t>
            </a:r>
            <a:r>
              <a:rPr dirty="0" spc="-355" b="0">
                <a:latin typeface="Cambria"/>
                <a:cs typeface="Cambria"/>
              </a:rPr>
              <a:t>10%</a:t>
            </a:r>
            <a:r>
              <a:rPr dirty="0" spc="110" b="0">
                <a:latin typeface="Cambria"/>
                <a:cs typeface="Cambria"/>
              </a:rPr>
              <a:t> </a:t>
            </a:r>
            <a:r>
              <a:rPr dirty="0" spc="70" b="0">
                <a:latin typeface="Cambria"/>
                <a:cs typeface="Cambria"/>
              </a:rPr>
              <a:t>off”</a:t>
            </a:r>
          </a:p>
          <a:p>
            <a:pPr marL="4565015" marR="5080" indent="-3642360">
              <a:lnSpc>
                <a:spcPts val="5330"/>
              </a:lnSpc>
              <a:spcBef>
                <a:spcPts val="340"/>
              </a:spcBef>
            </a:pPr>
            <a:r>
              <a:rPr dirty="0" spc="190" b="0">
                <a:latin typeface="Cambria"/>
                <a:cs typeface="Cambria"/>
              </a:rPr>
              <a:t>GenAI-</a:t>
            </a:r>
            <a:r>
              <a:rPr dirty="0" spc="65" b="0">
                <a:latin typeface="Cambria"/>
                <a:cs typeface="Cambria"/>
              </a:rPr>
              <a:t>Driven: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120" b="0">
                <a:latin typeface="Cambria"/>
                <a:cs typeface="Cambria"/>
              </a:rPr>
              <a:t>“Customers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b="0">
                <a:latin typeface="Cambria"/>
                <a:cs typeface="Cambria"/>
              </a:rPr>
              <a:t>who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b="0">
                <a:latin typeface="Cambria"/>
                <a:cs typeface="Cambria"/>
              </a:rPr>
              <a:t>buy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55" b="0">
                <a:latin typeface="Cambria"/>
                <a:cs typeface="Cambria"/>
              </a:rPr>
              <a:t>bread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65" b="0">
                <a:latin typeface="Cambria"/>
                <a:cs typeface="Cambria"/>
              </a:rPr>
              <a:t>and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80" b="0">
                <a:latin typeface="Cambria"/>
                <a:cs typeface="Cambria"/>
              </a:rPr>
              <a:t>milk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often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b="0">
                <a:latin typeface="Cambria"/>
                <a:cs typeface="Cambria"/>
              </a:rPr>
              <a:t>buy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65" b="0">
                <a:latin typeface="Cambria"/>
                <a:cs typeface="Cambria"/>
              </a:rPr>
              <a:t>eggs </a:t>
            </a:r>
            <a:r>
              <a:rPr dirty="0" spc="85" b="0">
                <a:latin typeface="Cambria"/>
                <a:cs typeface="Cambria"/>
              </a:rPr>
              <a:t>eggs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70" b="0">
                <a:latin typeface="Cambria"/>
                <a:cs typeface="Cambria"/>
              </a:rPr>
              <a:t>too,add</a:t>
            </a:r>
            <a:r>
              <a:rPr dirty="0" spc="160" b="0">
                <a:latin typeface="Cambria"/>
                <a:cs typeface="Cambria"/>
              </a:rPr>
              <a:t> </a:t>
            </a:r>
            <a:r>
              <a:rPr dirty="0" spc="100" b="0">
                <a:latin typeface="Cambria"/>
                <a:cs typeface="Cambria"/>
              </a:rPr>
              <a:t>them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b="0">
                <a:latin typeface="Cambria"/>
                <a:cs typeface="Cambria"/>
              </a:rPr>
              <a:t>now</a:t>
            </a:r>
            <a:r>
              <a:rPr dirty="0" spc="160" b="0">
                <a:latin typeface="Cambria"/>
                <a:cs typeface="Cambria"/>
              </a:rPr>
              <a:t> </a:t>
            </a:r>
            <a:r>
              <a:rPr dirty="0" spc="65" b="0">
                <a:latin typeface="Cambria"/>
                <a:cs typeface="Cambria"/>
              </a:rPr>
              <a:t>and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b="0">
                <a:latin typeface="Cambria"/>
                <a:cs typeface="Cambria"/>
              </a:rPr>
              <a:t>enjoy</a:t>
            </a:r>
            <a:r>
              <a:rPr dirty="0" spc="160" b="0">
                <a:latin typeface="Cambria"/>
                <a:cs typeface="Cambria"/>
              </a:rPr>
              <a:t> </a:t>
            </a:r>
            <a:r>
              <a:rPr dirty="0" b="0">
                <a:latin typeface="Cambria"/>
                <a:cs typeface="Cambria"/>
              </a:rPr>
              <a:t>a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-355" b="0">
                <a:latin typeface="Cambria"/>
                <a:cs typeface="Cambria"/>
              </a:rPr>
              <a:t>10%</a:t>
            </a:r>
            <a:r>
              <a:rPr dirty="0" spc="160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saving.”</a:t>
            </a:r>
          </a:p>
          <a:p>
            <a:pPr marL="126364">
              <a:lnSpc>
                <a:spcPct val="100000"/>
              </a:lnSpc>
              <a:spcBef>
                <a:spcPts val="655"/>
              </a:spcBef>
            </a:pPr>
            <a:r>
              <a:rPr dirty="0"/>
              <a:t>Expected</a:t>
            </a:r>
            <a:r>
              <a:rPr dirty="0" spc="90"/>
              <a:t> </a:t>
            </a:r>
            <a:r>
              <a:rPr dirty="0" spc="-10"/>
              <a:t>Impact</a:t>
            </a:r>
          </a:p>
          <a:p>
            <a:pPr marL="789305">
              <a:lnSpc>
                <a:spcPct val="100000"/>
              </a:lnSpc>
              <a:spcBef>
                <a:spcPts val="1005"/>
              </a:spcBef>
            </a:pPr>
            <a:r>
              <a:rPr dirty="0" spc="-335" b="0">
                <a:latin typeface="Cambria"/>
                <a:cs typeface="Cambria"/>
              </a:rPr>
              <a:t>5–7%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increase</a:t>
            </a:r>
            <a:r>
              <a:rPr dirty="0" spc="160" b="0">
                <a:latin typeface="Cambria"/>
                <a:cs typeface="Cambria"/>
              </a:rPr>
              <a:t> </a:t>
            </a:r>
            <a:r>
              <a:rPr dirty="0" spc="80" b="0">
                <a:latin typeface="Cambria"/>
                <a:cs typeface="Cambria"/>
              </a:rPr>
              <a:t>in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45" b="0">
                <a:latin typeface="Cambria"/>
                <a:cs typeface="Cambria"/>
              </a:rPr>
              <a:t>Average</a:t>
            </a:r>
            <a:r>
              <a:rPr dirty="0" spc="160" b="0">
                <a:latin typeface="Cambria"/>
                <a:cs typeface="Cambria"/>
              </a:rPr>
              <a:t> </a:t>
            </a:r>
            <a:r>
              <a:rPr dirty="0" b="0">
                <a:latin typeface="Cambria"/>
                <a:cs typeface="Cambria"/>
              </a:rPr>
              <a:t>Basket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55" b="0">
                <a:latin typeface="Cambria"/>
                <a:cs typeface="Cambria"/>
              </a:rPr>
              <a:t>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4200" spc="185">
                <a:solidFill>
                  <a:srgbClr val="2A2B2F"/>
                </a:solidFill>
              </a:rPr>
              <a:t>GENAI</a:t>
            </a:r>
            <a:r>
              <a:rPr dirty="0" sz="4200" spc="40">
                <a:solidFill>
                  <a:srgbClr val="2A2B2F"/>
                </a:solidFill>
              </a:rPr>
              <a:t> </a:t>
            </a:r>
            <a:r>
              <a:rPr dirty="0" sz="4200" spc="195">
                <a:solidFill>
                  <a:srgbClr val="2A2B2F"/>
                </a:solidFill>
              </a:rPr>
              <a:t>USE</a:t>
            </a:r>
            <a:r>
              <a:rPr dirty="0" sz="4200" spc="40">
                <a:solidFill>
                  <a:srgbClr val="2A2B2F"/>
                </a:solidFill>
              </a:rPr>
              <a:t> </a:t>
            </a:r>
            <a:r>
              <a:rPr dirty="0" sz="4200" spc="280">
                <a:solidFill>
                  <a:srgbClr val="2A2B2F"/>
                </a:solidFill>
              </a:rPr>
              <a:t>CASE</a:t>
            </a:r>
            <a:r>
              <a:rPr dirty="0" sz="4200" spc="45">
                <a:solidFill>
                  <a:srgbClr val="2A2B2F"/>
                </a:solidFill>
              </a:rPr>
              <a:t> </a:t>
            </a:r>
            <a:r>
              <a:rPr dirty="0" sz="4200" spc="-120">
                <a:solidFill>
                  <a:srgbClr val="2A2B2F"/>
                </a:solidFill>
              </a:rPr>
              <a:t>3:</a:t>
            </a:r>
            <a:r>
              <a:rPr dirty="0" sz="4200" spc="40">
                <a:solidFill>
                  <a:srgbClr val="2A2B2F"/>
                </a:solidFill>
              </a:rPr>
              <a:t> </a:t>
            </a:r>
            <a:r>
              <a:rPr dirty="0" sz="4200" spc="215">
                <a:solidFill>
                  <a:srgbClr val="2A2B2F"/>
                </a:solidFill>
              </a:rPr>
              <a:t>CONVERSATIONAL</a:t>
            </a:r>
            <a:r>
              <a:rPr dirty="0" sz="4200" spc="45">
                <a:solidFill>
                  <a:srgbClr val="2A2B2F"/>
                </a:solidFill>
              </a:rPr>
              <a:t> </a:t>
            </a:r>
            <a:r>
              <a:rPr dirty="0" sz="4200" spc="235">
                <a:solidFill>
                  <a:srgbClr val="2A2B2F"/>
                </a:solidFill>
              </a:rPr>
              <a:t>SHOPPING</a:t>
            </a:r>
            <a:r>
              <a:rPr dirty="0" sz="4200" spc="40">
                <a:solidFill>
                  <a:srgbClr val="2A2B2F"/>
                </a:solidFill>
              </a:rPr>
              <a:t> </a:t>
            </a:r>
            <a:r>
              <a:rPr dirty="0" sz="4200" spc="150">
                <a:solidFill>
                  <a:srgbClr val="2A2B2F"/>
                </a:solidFill>
              </a:rPr>
              <a:t>ASSISTANT</a:t>
            </a:r>
            <a:endParaRPr sz="4200"/>
          </a:p>
        </p:txBody>
      </p:sp>
      <p:sp>
        <p:nvSpPr>
          <p:cNvPr id="3" name="object 3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41" y="3435582"/>
            <a:ext cx="161925" cy="1619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41" y="4111857"/>
            <a:ext cx="161925" cy="1619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41" y="4788132"/>
            <a:ext cx="161925" cy="1619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41" y="8169506"/>
            <a:ext cx="161925" cy="161924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pc="-10"/>
              <a:t>Functionality</a:t>
            </a:r>
          </a:p>
          <a:p>
            <a:pPr marL="789305">
              <a:lnSpc>
                <a:spcPct val="100000"/>
              </a:lnSpc>
              <a:spcBef>
                <a:spcPts val="1005"/>
              </a:spcBef>
            </a:pPr>
            <a:r>
              <a:rPr dirty="0" spc="55" b="0">
                <a:latin typeface="Cambria"/>
                <a:cs typeface="Cambria"/>
              </a:rPr>
              <a:t>Enables</a:t>
            </a:r>
            <a:r>
              <a:rPr dirty="0" spc="125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natural</a:t>
            </a:r>
            <a:r>
              <a:rPr dirty="0" spc="125" b="0">
                <a:latin typeface="Cambria"/>
                <a:cs typeface="Cambria"/>
              </a:rPr>
              <a:t> </a:t>
            </a:r>
            <a:r>
              <a:rPr dirty="0" spc="70" b="0">
                <a:latin typeface="Cambria"/>
                <a:cs typeface="Cambria"/>
              </a:rPr>
              <a:t>language</a:t>
            </a:r>
            <a:r>
              <a:rPr dirty="0" spc="125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interaction</a:t>
            </a:r>
          </a:p>
          <a:p>
            <a:pPr marL="789305" marR="1730375">
              <a:lnSpc>
                <a:spcPts val="5330"/>
              </a:lnSpc>
              <a:spcBef>
                <a:spcPts val="340"/>
              </a:spcBef>
            </a:pPr>
            <a:r>
              <a:rPr dirty="0" spc="70" b="0">
                <a:latin typeface="Cambria"/>
                <a:cs typeface="Cambria"/>
              </a:rPr>
              <a:t>Understands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90" b="0">
                <a:latin typeface="Cambria"/>
                <a:cs typeface="Cambria"/>
              </a:rPr>
              <a:t>customer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intent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rather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than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35" b="0">
                <a:latin typeface="Cambria"/>
                <a:cs typeface="Cambria"/>
              </a:rPr>
              <a:t>keywords </a:t>
            </a:r>
            <a:r>
              <a:rPr dirty="0" spc="100" b="0">
                <a:latin typeface="Cambria"/>
                <a:cs typeface="Cambria"/>
              </a:rPr>
              <a:t>Recommends</a:t>
            </a:r>
            <a:r>
              <a:rPr dirty="0" spc="105" b="0">
                <a:latin typeface="Cambria"/>
                <a:cs typeface="Cambria"/>
              </a:rPr>
              <a:t> </a:t>
            </a:r>
            <a:r>
              <a:rPr dirty="0" spc="50" b="0">
                <a:latin typeface="Cambria"/>
                <a:cs typeface="Cambria"/>
              </a:rPr>
              <a:t>relevant</a:t>
            </a:r>
            <a:r>
              <a:rPr dirty="0" spc="10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items</a:t>
            </a:r>
            <a:r>
              <a:rPr dirty="0" spc="105" b="0">
                <a:latin typeface="Cambria"/>
                <a:cs typeface="Cambria"/>
              </a:rPr>
              <a:t> </a:t>
            </a:r>
            <a:r>
              <a:rPr dirty="0" spc="55" b="0">
                <a:latin typeface="Cambria"/>
                <a:cs typeface="Cambria"/>
              </a:rPr>
              <a:t>to</a:t>
            </a:r>
            <a:r>
              <a:rPr dirty="0" spc="105" b="0">
                <a:latin typeface="Cambria"/>
                <a:cs typeface="Cambria"/>
              </a:rPr>
              <a:t> </a:t>
            </a:r>
            <a:r>
              <a:rPr dirty="0" spc="85" b="0">
                <a:latin typeface="Cambria"/>
                <a:cs typeface="Cambria"/>
              </a:rPr>
              <a:t>complete</a:t>
            </a:r>
            <a:r>
              <a:rPr dirty="0" spc="105" b="0">
                <a:latin typeface="Cambria"/>
                <a:cs typeface="Cambria"/>
              </a:rPr>
              <a:t> </a:t>
            </a:r>
            <a:r>
              <a:rPr dirty="0" spc="80" b="0">
                <a:latin typeface="Cambria"/>
                <a:cs typeface="Cambria"/>
              </a:rPr>
              <a:t>the</a:t>
            </a:r>
            <a:r>
              <a:rPr dirty="0" spc="110" b="0">
                <a:latin typeface="Cambria"/>
                <a:cs typeface="Cambria"/>
              </a:rPr>
              <a:t> </a:t>
            </a:r>
            <a:r>
              <a:rPr dirty="0" spc="70" b="0">
                <a:latin typeface="Cambria"/>
                <a:cs typeface="Cambria"/>
              </a:rPr>
              <a:t>purchase</a:t>
            </a: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pc="-10"/>
              <a:t>Example</a:t>
            </a:r>
          </a:p>
          <a:p>
            <a:pPr marL="1946910">
              <a:lnSpc>
                <a:spcPct val="100000"/>
              </a:lnSpc>
              <a:spcBef>
                <a:spcPts val="1005"/>
              </a:spcBef>
            </a:pPr>
            <a:r>
              <a:rPr dirty="0" spc="110" b="0">
                <a:latin typeface="Cambria"/>
                <a:cs typeface="Cambria"/>
              </a:rPr>
              <a:t>Customer: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50" b="0">
                <a:latin typeface="Cambria"/>
                <a:cs typeface="Cambria"/>
              </a:rPr>
              <a:t>“What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55" b="0">
                <a:latin typeface="Cambria"/>
                <a:cs typeface="Cambria"/>
              </a:rPr>
              <a:t>else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65" b="0">
                <a:latin typeface="Cambria"/>
                <a:cs typeface="Cambria"/>
              </a:rPr>
              <a:t>do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b="0">
                <a:latin typeface="Cambria"/>
                <a:cs typeface="Cambria"/>
              </a:rPr>
              <a:t>I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80" b="0">
                <a:latin typeface="Cambria"/>
                <a:cs typeface="Cambria"/>
              </a:rPr>
              <a:t>need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80" b="0">
                <a:latin typeface="Cambria"/>
                <a:cs typeface="Cambria"/>
              </a:rPr>
              <a:t>for</a:t>
            </a:r>
            <a:r>
              <a:rPr dirty="0" spc="114" b="0">
                <a:latin typeface="Cambria"/>
                <a:cs typeface="Cambria"/>
              </a:rPr>
              <a:t> </a:t>
            </a:r>
            <a:r>
              <a:rPr dirty="0" spc="85" b="0">
                <a:latin typeface="Cambria"/>
                <a:cs typeface="Cambria"/>
              </a:rPr>
              <a:t>dinner?”</a:t>
            </a:r>
          </a:p>
          <a:p>
            <a:pPr marL="1946910">
              <a:lnSpc>
                <a:spcPct val="100000"/>
              </a:lnSpc>
              <a:spcBef>
                <a:spcPts val="1005"/>
              </a:spcBef>
            </a:pPr>
            <a:r>
              <a:rPr dirty="0" spc="90" b="0">
                <a:latin typeface="Cambria"/>
                <a:cs typeface="Cambria"/>
              </a:rPr>
              <a:t>GenAI:</a:t>
            </a:r>
            <a:r>
              <a:rPr dirty="0" spc="120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Identifies</a:t>
            </a:r>
            <a:r>
              <a:rPr dirty="0" spc="12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intent</a:t>
            </a:r>
            <a:r>
              <a:rPr dirty="0" spc="125" b="0">
                <a:latin typeface="Cambria"/>
                <a:cs typeface="Cambria"/>
              </a:rPr>
              <a:t> </a:t>
            </a:r>
            <a:r>
              <a:rPr dirty="0" spc="65" b="0">
                <a:latin typeface="Cambria"/>
                <a:cs typeface="Cambria"/>
              </a:rPr>
              <a:t>and</a:t>
            </a:r>
            <a:r>
              <a:rPr dirty="0" spc="125" b="0">
                <a:latin typeface="Cambria"/>
                <a:cs typeface="Cambria"/>
              </a:rPr>
              <a:t> </a:t>
            </a:r>
            <a:r>
              <a:rPr dirty="0" spc="70" b="0">
                <a:latin typeface="Cambria"/>
                <a:cs typeface="Cambria"/>
              </a:rPr>
              <a:t>suggests</a:t>
            </a:r>
            <a:r>
              <a:rPr dirty="0" spc="125" b="0">
                <a:latin typeface="Cambria"/>
                <a:cs typeface="Cambria"/>
              </a:rPr>
              <a:t> </a:t>
            </a:r>
            <a:r>
              <a:rPr dirty="0" spc="80" b="0">
                <a:latin typeface="Cambria"/>
                <a:cs typeface="Cambria"/>
              </a:rPr>
              <a:t>missing</a:t>
            </a:r>
            <a:r>
              <a:rPr dirty="0" spc="120" b="0">
                <a:latin typeface="Cambria"/>
                <a:cs typeface="Cambria"/>
              </a:rPr>
              <a:t> </a:t>
            </a:r>
            <a:r>
              <a:rPr dirty="0" spc="65" b="0">
                <a:latin typeface="Cambria"/>
                <a:cs typeface="Cambria"/>
              </a:rPr>
              <a:t>ingredients</a:t>
            </a: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/>
              <a:t>Expected</a:t>
            </a:r>
            <a:r>
              <a:rPr dirty="0" spc="35"/>
              <a:t> </a:t>
            </a:r>
            <a:r>
              <a:rPr dirty="0" spc="-10"/>
              <a:t>Impact</a:t>
            </a:r>
          </a:p>
          <a:p>
            <a:pPr marL="789305">
              <a:lnSpc>
                <a:spcPct val="100000"/>
              </a:lnSpc>
              <a:spcBef>
                <a:spcPts val="1005"/>
              </a:spcBef>
            </a:pPr>
            <a:r>
              <a:rPr dirty="0" spc="-295" b="0">
                <a:latin typeface="Cambria"/>
                <a:cs typeface="Cambria"/>
              </a:rPr>
              <a:t>3–5%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increase</a:t>
            </a:r>
            <a:r>
              <a:rPr dirty="0" spc="160" b="0">
                <a:latin typeface="Cambria"/>
                <a:cs typeface="Cambria"/>
              </a:rPr>
              <a:t> </a:t>
            </a:r>
            <a:r>
              <a:rPr dirty="0" spc="80" b="0">
                <a:latin typeface="Cambria"/>
                <a:cs typeface="Cambria"/>
              </a:rPr>
              <a:t>in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45" b="0">
                <a:latin typeface="Cambria"/>
                <a:cs typeface="Cambria"/>
              </a:rPr>
              <a:t>Average</a:t>
            </a:r>
            <a:r>
              <a:rPr dirty="0" spc="160" b="0">
                <a:latin typeface="Cambria"/>
                <a:cs typeface="Cambria"/>
              </a:rPr>
              <a:t> </a:t>
            </a:r>
            <a:r>
              <a:rPr dirty="0" b="0">
                <a:latin typeface="Cambria"/>
                <a:cs typeface="Cambria"/>
              </a:rPr>
              <a:t>Basket</a:t>
            </a:r>
            <a:r>
              <a:rPr dirty="0" spc="155" b="0">
                <a:latin typeface="Cambria"/>
                <a:cs typeface="Cambria"/>
              </a:rPr>
              <a:t> </a:t>
            </a:r>
            <a:r>
              <a:rPr dirty="0" spc="55" b="0">
                <a:latin typeface="Cambria"/>
                <a:cs typeface="Cambria"/>
              </a:rPr>
              <a:t>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3932" y="1755998"/>
            <a:ext cx="16240125" cy="7868284"/>
            <a:chOff x="1023932" y="1755998"/>
            <a:chExt cx="16240125" cy="7868284"/>
          </a:xfrm>
        </p:grpSpPr>
        <p:sp>
          <p:nvSpPr>
            <p:cNvPr id="3" name="object 3" descr=""/>
            <p:cNvSpPr/>
            <p:nvPr/>
          </p:nvSpPr>
          <p:spPr>
            <a:xfrm>
              <a:off x="1028694" y="1760761"/>
              <a:ext cx="16230600" cy="38735"/>
            </a:xfrm>
            <a:custGeom>
              <a:avLst/>
              <a:gdLst/>
              <a:ahLst/>
              <a:cxnLst/>
              <a:rect l="l" t="t" r="r" b="b"/>
              <a:pathLst>
                <a:path w="16230600" h="38735">
                  <a:moveTo>
                    <a:pt x="0" y="38508"/>
                  </a:moveTo>
                  <a:lnTo>
                    <a:pt x="16230593" y="0"/>
                  </a:lnTo>
                </a:path>
              </a:pathLst>
            </a:custGeom>
            <a:ln w="9524">
              <a:solidFill>
                <a:srgbClr val="2A2B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7735" y="1832607"/>
              <a:ext cx="14192249" cy="779144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pc="240">
                <a:solidFill>
                  <a:srgbClr val="2A2B2F"/>
                </a:solidFill>
              </a:rPr>
              <a:t>SOLUTION</a:t>
            </a:r>
            <a:r>
              <a:rPr dirty="0" spc="90">
                <a:solidFill>
                  <a:srgbClr val="2A2B2F"/>
                </a:solidFill>
              </a:rPr>
              <a:t> </a:t>
            </a:r>
            <a:r>
              <a:rPr dirty="0" spc="220">
                <a:solidFill>
                  <a:srgbClr val="2A2B2F"/>
                </a:solidFill>
              </a:rPr>
              <a:t>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4400" spc="200">
                <a:solidFill>
                  <a:srgbClr val="2A2B2F"/>
                </a:solidFill>
              </a:rPr>
              <a:t>IMPLEMENTATION</a:t>
            </a:r>
            <a:r>
              <a:rPr dirty="0" sz="4400" spc="90">
                <a:solidFill>
                  <a:srgbClr val="2A2B2F"/>
                </a:solidFill>
              </a:rPr>
              <a:t> </a:t>
            </a:r>
            <a:r>
              <a:rPr dirty="0" sz="4400" spc="190">
                <a:solidFill>
                  <a:srgbClr val="2A2B2F"/>
                </a:solidFill>
              </a:rPr>
              <a:t>ROADMAP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228" y="4742815"/>
            <a:ext cx="133349" cy="1333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228" y="5266690"/>
            <a:ext cx="133349" cy="1333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228" y="6314439"/>
            <a:ext cx="133349" cy="1333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228" y="7362190"/>
            <a:ext cx="133349" cy="1333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314203" y="2550781"/>
            <a:ext cx="6463030" cy="510032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r" marR="1997710">
              <a:lnSpc>
                <a:spcPct val="100000"/>
              </a:lnSpc>
              <a:spcBef>
                <a:spcPts val="790"/>
              </a:spcBef>
            </a:pPr>
            <a:r>
              <a:rPr dirty="0" sz="3800" b="1">
                <a:solidFill>
                  <a:srgbClr val="2A2B2F"/>
                </a:solidFill>
                <a:latin typeface="Cambria"/>
                <a:cs typeface="Cambria"/>
              </a:rPr>
              <a:t>Phase</a:t>
            </a:r>
            <a:r>
              <a:rPr dirty="0" sz="3800" spc="-1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800" spc="-395" b="1">
                <a:solidFill>
                  <a:srgbClr val="2A2B2F"/>
                </a:solidFill>
                <a:latin typeface="Cambria"/>
                <a:cs typeface="Cambria"/>
              </a:rPr>
              <a:t>1:</a:t>
            </a:r>
            <a:r>
              <a:rPr dirty="0" sz="3800" spc="4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800" spc="-10" b="1">
                <a:solidFill>
                  <a:srgbClr val="2A2B2F"/>
                </a:solidFill>
                <a:latin typeface="Cambria"/>
                <a:cs typeface="Cambria"/>
              </a:rPr>
              <a:t>Foundation</a:t>
            </a:r>
            <a:endParaRPr sz="3800">
              <a:latin typeface="Cambria"/>
              <a:cs typeface="Cambria"/>
            </a:endParaRPr>
          </a:p>
          <a:p>
            <a:pPr algn="r" marR="1922780">
              <a:lnSpc>
                <a:spcPct val="100000"/>
              </a:lnSpc>
              <a:spcBef>
                <a:spcPts val="690"/>
              </a:spcBef>
            </a:pPr>
            <a:r>
              <a:rPr dirty="0" sz="3800" spc="-80" b="1">
                <a:solidFill>
                  <a:srgbClr val="2A2B2F"/>
                </a:solidFill>
                <a:latin typeface="Cambria"/>
                <a:cs typeface="Cambria"/>
              </a:rPr>
              <a:t>(Weeks</a:t>
            </a:r>
            <a:r>
              <a:rPr dirty="0" sz="3800" spc="-10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800" spc="-285" b="1">
                <a:solidFill>
                  <a:srgbClr val="2A2B2F"/>
                </a:solidFill>
                <a:latin typeface="Cambria"/>
                <a:cs typeface="Cambria"/>
              </a:rPr>
              <a:t>1–4)</a:t>
            </a: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3800">
              <a:latin typeface="Cambria"/>
              <a:cs typeface="Cambria"/>
            </a:endParaRPr>
          </a:p>
          <a:p>
            <a:pPr marL="659765" marR="196850">
              <a:lnSpc>
                <a:spcPct val="114599"/>
              </a:lnSpc>
              <a:spcBef>
                <a:spcPts val="5"/>
              </a:spcBef>
            </a:pPr>
            <a:r>
              <a:rPr dirty="0" sz="3000" spc="65">
                <a:solidFill>
                  <a:srgbClr val="2A2B2F"/>
                </a:solidFill>
                <a:latin typeface="Cambria"/>
                <a:cs typeface="Cambria"/>
              </a:rPr>
              <a:t>Data</a:t>
            </a:r>
            <a:r>
              <a:rPr dirty="0" sz="3000" spc="9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000" spc="65">
                <a:solidFill>
                  <a:srgbClr val="2A2B2F"/>
                </a:solidFill>
                <a:latin typeface="Cambria"/>
                <a:cs typeface="Cambria"/>
              </a:rPr>
              <a:t>cleaning</a:t>
            </a:r>
            <a:r>
              <a:rPr dirty="0" sz="3000" spc="9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000" spc="60">
                <a:solidFill>
                  <a:srgbClr val="2A2B2F"/>
                </a:solidFill>
                <a:latin typeface="Cambria"/>
                <a:cs typeface="Cambria"/>
              </a:rPr>
              <a:t>and</a:t>
            </a:r>
            <a:r>
              <a:rPr dirty="0" sz="3000" spc="9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000" spc="50">
                <a:solidFill>
                  <a:srgbClr val="2A2B2F"/>
                </a:solidFill>
                <a:latin typeface="Cambria"/>
                <a:cs typeface="Cambria"/>
              </a:rPr>
              <a:t>preprocessing </a:t>
            </a:r>
            <a:r>
              <a:rPr dirty="0" sz="3000">
                <a:solidFill>
                  <a:srgbClr val="2A2B2F"/>
                </a:solidFill>
                <a:latin typeface="Cambria"/>
                <a:cs typeface="Cambria"/>
              </a:rPr>
              <a:t>Baseline</a:t>
            </a:r>
            <a:r>
              <a:rPr dirty="0" sz="3000" spc="37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000">
                <a:solidFill>
                  <a:srgbClr val="2A2B2F"/>
                </a:solidFill>
                <a:latin typeface="Cambria"/>
                <a:cs typeface="Cambria"/>
              </a:rPr>
              <a:t>basket</a:t>
            </a:r>
            <a:r>
              <a:rPr dirty="0" sz="3000" spc="37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000" spc="-20">
                <a:solidFill>
                  <a:srgbClr val="2A2B2F"/>
                </a:solidFill>
                <a:latin typeface="Cambria"/>
                <a:cs typeface="Cambria"/>
              </a:rPr>
              <a:t>size </a:t>
            </a:r>
            <a:r>
              <a:rPr dirty="0" sz="3000" spc="55">
                <a:solidFill>
                  <a:srgbClr val="2A2B2F"/>
                </a:solidFill>
                <a:latin typeface="Cambria"/>
                <a:cs typeface="Cambria"/>
              </a:rPr>
              <a:t>measurement</a:t>
            </a:r>
            <a:endParaRPr sz="3000">
              <a:latin typeface="Cambria"/>
              <a:cs typeface="Cambria"/>
            </a:endParaRPr>
          </a:p>
          <a:p>
            <a:pPr marL="659765" marR="1860550">
              <a:lnSpc>
                <a:spcPct val="114599"/>
              </a:lnSpc>
            </a:pPr>
            <a:r>
              <a:rPr dirty="0" sz="3000" spc="70">
                <a:solidFill>
                  <a:srgbClr val="2A2B2F"/>
                </a:solidFill>
                <a:latin typeface="Cambria"/>
                <a:cs typeface="Cambria"/>
              </a:rPr>
              <a:t>Recommendation</a:t>
            </a:r>
            <a:r>
              <a:rPr dirty="0" sz="3000" spc="10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000" spc="50">
                <a:solidFill>
                  <a:srgbClr val="2A2B2F"/>
                </a:solidFill>
                <a:latin typeface="Cambria"/>
                <a:cs typeface="Cambria"/>
              </a:rPr>
              <a:t>logic </a:t>
            </a:r>
            <a:r>
              <a:rPr dirty="0" sz="3000" spc="35">
                <a:solidFill>
                  <a:srgbClr val="2A2B2F"/>
                </a:solidFill>
                <a:latin typeface="Cambria"/>
                <a:cs typeface="Cambria"/>
              </a:rPr>
              <a:t>development</a:t>
            </a:r>
            <a:endParaRPr sz="3000">
              <a:latin typeface="Cambria"/>
              <a:cs typeface="Cambria"/>
            </a:endParaRPr>
          </a:p>
          <a:p>
            <a:pPr marL="659765">
              <a:lnSpc>
                <a:spcPct val="100000"/>
              </a:lnSpc>
              <a:spcBef>
                <a:spcPts val="520"/>
              </a:spcBef>
            </a:pPr>
            <a:r>
              <a:rPr dirty="0" sz="3000" spc="135">
                <a:solidFill>
                  <a:srgbClr val="2A2B2F"/>
                </a:solidFill>
                <a:latin typeface="Cambria"/>
                <a:cs typeface="Cambria"/>
              </a:rPr>
              <a:t>POS</a:t>
            </a:r>
            <a:r>
              <a:rPr dirty="0" sz="3000" spc="1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000" spc="50">
                <a:solidFill>
                  <a:srgbClr val="2A2B2F"/>
                </a:solidFill>
                <a:latin typeface="Cambria"/>
                <a:cs typeface="Cambria"/>
              </a:rPr>
              <a:t>integration</a:t>
            </a:r>
            <a:r>
              <a:rPr dirty="0" sz="3000" spc="16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000" spc="65">
                <a:solidFill>
                  <a:srgbClr val="2A2B2F"/>
                </a:solidFill>
                <a:latin typeface="Cambria"/>
                <a:cs typeface="Cambria"/>
              </a:rPr>
              <a:t>(read-</a:t>
            </a:r>
            <a:r>
              <a:rPr dirty="0" sz="3000">
                <a:solidFill>
                  <a:srgbClr val="2A2B2F"/>
                </a:solidFill>
                <a:latin typeface="Cambria"/>
                <a:cs typeface="Cambria"/>
              </a:rPr>
              <a:t>only</a:t>
            </a:r>
            <a:r>
              <a:rPr dirty="0" sz="3000" spc="16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000" spc="-10">
                <a:solidFill>
                  <a:srgbClr val="2A2B2F"/>
                </a:solidFill>
                <a:latin typeface="Cambria"/>
                <a:cs typeface="Cambria"/>
              </a:rPr>
              <a:t>mode)</a:t>
            </a:r>
            <a:endParaRPr sz="3000">
              <a:latin typeface="Cambria"/>
              <a:cs typeface="Cambr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5706" y="4810124"/>
            <a:ext cx="142875" cy="1428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5706" y="5362574"/>
            <a:ext cx="142875" cy="1428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5706" y="5915024"/>
            <a:ext cx="142875" cy="1428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5706" y="6467474"/>
            <a:ext cx="142875" cy="14287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9399156" y="2533681"/>
            <a:ext cx="7513320" cy="424561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 marR="1112520">
              <a:lnSpc>
                <a:spcPct val="100000"/>
              </a:lnSpc>
              <a:spcBef>
                <a:spcPts val="835"/>
              </a:spcBef>
            </a:pPr>
            <a:r>
              <a:rPr dirty="0" sz="3950" b="1">
                <a:solidFill>
                  <a:srgbClr val="2A2B2F"/>
                </a:solidFill>
                <a:latin typeface="Cambria"/>
                <a:cs typeface="Cambria"/>
              </a:rPr>
              <a:t>Phase</a:t>
            </a:r>
            <a:r>
              <a:rPr dirty="0" sz="3950" spc="-6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cap="small" sz="3950" b="1">
                <a:solidFill>
                  <a:srgbClr val="2A2B2F"/>
                </a:solidFill>
                <a:latin typeface="Cambria"/>
                <a:cs typeface="Cambria"/>
              </a:rPr>
              <a:t>2</a:t>
            </a:r>
            <a:r>
              <a:rPr dirty="0" sz="3950" b="1">
                <a:solidFill>
                  <a:srgbClr val="2A2B2F"/>
                </a:solidFill>
                <a:latin typeface="Cambria"/>
                <a:cs typeface="Cambria"/>
              </a:rPr>
              <a:t>:</a:t>
            </a:r>
            <a:r>
              <a:rPr dirty="0" sz="3950" spc="-6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950" spc="70" b="1">
                <a:solidFill>
                  <a:srgbClr val="2A2B2F"/>
                </a:solidFill>
                <a:latin typeface="Cambria"/>
                <a:cs typeface="Cambria"/>
              </a:rPr>
              <a:t>GenAI</a:t>
            </a:r>
            <a:r>
              <a:rPr dirty="0" sz="3950" spc="-60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950" spc="-20" b="1">
                <a:solidFill>
                  <a:srgbClr val="2A2B2F"/>
                </a:solidFill>
                <a:latin typeface="Cambria"/>
                <a:cs typeface="Cambria"/>
              </a:rPr>
              <a:t>Enablement</a:t>
            </a:r>
            <a:endParaRPr sz="3950">
              <a:latin typeface="Cambria"/>
              <a:cs typeface="Cambria"/>
            </a:endParaRPr>
          </a:p>
          <a:p>
            <a:pPr algn="ctr" marR="500380">
              <a:lnSpc>
                <a:spcPct val="100000"/>
              </a:lnSpc>
              <a:spcBef>
                <a:spcPts val="735"/>
              </a:spcBef>
            </a:pPr>
            <a:r>
              <a:rPr dirty="0" sz="3950" spc="-90" b="1">
                <a:solidFill>
                  <a:srgbClr val="2A2B2F"/>
                </a:solidFill>
                <a:latin typeface="Cambria"/>
                <a:cs typeface="Cambria"/>
              </a:rPr>
              <a:t>(Weeks</a:t>
            </a:r>
            <a:r>
              <a:rPr dirty="0" sz="3950" spc="-105" b="1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950" spc="-20" b="1">
                <a:solidFill>
                  <a:srgbClr val="2A2B2F"/>
                </a:solidFill>
                <a:latin typeface="Cambria"/>
                <a:cs typeface="Cambria"/>
              </a:rPr>
              <a:t>5–8)</a:t>
            </a:r>
            <a:endParaRPr sz="39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3950">
              <a:latin typeface="Cambria"/>
              <a:cs typeface="Cambria"/>
            </a:endParaRPr>
          </a:p>
          <a:p>
            <a:pPr marL="690245" marR="5080">
              <a:lnSpc>
                <a:spcPct val="116900"/>
              </a:lnSpc>
            </a:pPr>
            <a:r>
              <a:rPr dirty="0" sz="3100" spc="125">
                <a:solidFill>
                  <a:srgbClr val="2A2B2F"/>
                </a:solidFill>
                <a:latin typeface="Cambria"/>
                <a:cs typeface="Cambria"/>
              </a:rPr>
              <a:t>Natural-</a:t>
            </a:r>
            <a:r>
              <a:rPr dirty="0" sz="3100" spc="85">
                <a:solidFill>
                  <a:srgbClr val="2A2B2F"/>
                </a:solidFill>
                <a:latin typeface="Cambria"/>
                <a:cs typeface="Cambria"/>
              </a:rPr>
              <a:t>language</a:t>
            </a:r>
            <a:r>
              <a:rPr dirty="0" sz="3100" spc="11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85">
                <a:solidFill>
                  <a:srgbClr val="2A2B2F"/>
                </a:solidFill>
                <a:latin typeface="Cambria"/>
                <a:cs typeface="Cambria"/>
              </a:rPr>
              <a:t>message</a:t>
            </a:r>
            <a:r>
              <a:rPr dirty="0" sz="3100" spc="12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5">
                <a:solidFill>
                  <a:srgbClr val="2A2B2F"/>
                </a:solidFill>
                <a:latin typeface="Cambria"/>
                <a:cs typeface="Cambria"/>
              </a:rPr>
              <a:t>generation </a:t>
            </a:r>
            <a:r>
              <a:rPr dirty="0" sz="3100" spc="55">
                <a:solidFill>
                  <a:srgbClr val="2A2B2F"/>
                </a:solidFill>
                <a:latin typeface="Cambria"/>
                <a:cs typeface="Cambria"/>
              </a:rPr>
              <a:t>API</a:t>
            </a:r>
            <a:r>
              <a:rPr dirty="0" sz="3100" spc="10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80">
                <a:solidFill>
                  <a:srgbClr val="2A2B2F"/>
                </a:solidFill>
                <a:latin typeface="Cambria"/>
                <a:cs typeface="Cambria"/>
              </a:rPr>
              <a:t>development</a:t>
            </a:r>
            <a:r>
              <a:rPr dirty="0" sz="3100" spc="10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85">
                <a:solidFill>
                  <a:srgbClr val="2A2B2F"/>
                </a:solidFill>
                <a:latin typeface="Cambria"/>
                <a:cs typeface="Cambria"/>
              </a:rPr>
              <a:t>and</a:t>
            </a:r>
            <a:r>
              <a:rPr dirty="0" sz="3100" spc="10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5">
                <a:solidFill>
                  <a:srgbClr val="2A2B2F"/>
                </a:solidFill>
                <a:latin typeface="Cambria"/>
                <a:cs typeface="Cambria"/>
              </a:rPr>
              <a:t>deployment </a:t>
            </a:r>
            <a:r>
              <a:rPr dirty="0" sz="3100" spc="55">
                <a:solidFill>
                  <a:srgbClr val="2A2B2F"/>
                </a:solidFill>
                <a:latin typeface="Cambria"/>
                <a:cs typeface="Cambria"/>
              </a:rPr>
              <a:t>Pilot</a:t>
            </a:r>
            <a:r>
              <a:rPr dirty="0" sz="3100" spc="11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0">
                <a:solidFill>
                  <a:srgbClr val="2A2B2F"/>
                </a:solidFill>
                <a:latin typeface="Cambria"/>
                <a:cs typeface="Cambria"/>
              </a:rPr>
              <a:t>rollout</a:t>
            </a:r>
            <a:r>
              <a:rPr dirty="0" sz="3100" spc="11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90">
                <a:solidFill>
                  <a:srgbClr val="2A2B2F"/>
                </a:solidFill>
                <a:latin typeface="Cambria"/>
                <a:cs typeface="Cambria"/>
              </a:rPr>
              <a:t>in</a:t>
            </a:r>
            <a:r>
              <a:rPr dirty="0" sz="3100" spc="11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5">
                <a:solidFill>
                  <a:srgbClr val="2A2B2F"/>
                </a:solidFill>
                <a:latin typeface="Cambria"/>
                <a:cs typeface="Cambria"/>
              </a:rPr>
              <a:t>selected</a:t>
            </a:r>
            <a:r>
              <a:rPr dirty="0" sz="3100" spc="114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55">
                <a:solidFill>
                  <a:srgbClr val="2A2B2F"/>
                </a:solidFill>
                <a:latin typeface="Cambria"/>
                <a:cs typeface="Cambria"/>
              </a:rPr>
              <a:t>stores</a:t>
            </a:r>
            <a:endParaRPr sz="3100">
              <a:latin typeface="Cambria"/>
              <a:cs typeface="Cambria"/>
            </a:endParaRPr>
          </a:p>
          <a:p>
            <a:pPr marL="690245">
              <a:lnSpc>
                <a:spcPct val="100000"/>
              </a:lnSpc>
              <a:spcBef>
                <a:spcPts val="630"/>
              </a:spcBef>
            </a:pPr>
            <a:r>
              <a:rPr dirty="0" sz="3100" spc="90">
                <a:solidFill>
                  <a:srgbClr val="2A2B2F"/>
                </a:solidFill>
                <a:latin typeface="Cambria"/>
                <a:cs typeface="Cambria"/>
              </a:rPr>
              <a:t>Staff</a:t>
            </a:r>
            <a:r>
              <a:rPr dirty="0" sz="3100" spc="10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85">
                <a:solidFill>
                  <a:srgbClr val="2A2B2F"/>
                </a:solidFill>
                <a:latin typeface="Cambria"/>
                <a:cs typeface="Cambria"/>
              </a:rPr>
              <a:t>onboarding</a:t>
            </a:r>
            <a:r>
              <a:rPr dirty="0" sz="3100" spc="10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85">
                <a:solidFill>
                  <a:srgbClr val="2A2B2F"/>
                </a:solidFill>
                <a:latin typeface="Cambria"/>
                <a:cs typeface="Cambria"/>
              </a:rPr>
              <a:t>and</a:t>
            </a:r>
            <a:r>
              <a:rPr dirty="0" sz="3100" spc="105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3100" spc="75">
                <a:solidFill>
                  <a:srgbClr val="2A2B2F"/>
                </a:solidFill>
                <a:latin typeface="Cambria"/>
                <a:cs typeface="Cambria"/>
              </a:rPr>
              <a:t>training</a:t>
            </a:r>
            <a:endParaRPr sz="3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254"/>
              <a:t>RESOURCES</a:t>
            </a:r>
            <a:r>
              <a:rPr dirty="0" sz="4500" spc="75"/>
              <a:t> </a:t>
            </a:r>
            <a:r>
              <a:rPr dirty="0" sz="4500" spc="695"/>
              <a:t>&amp;</a:t>
            </a:r>
            <a:r>
              <a:rPr dirty="0" sz="4500" spc="80"/>
              <a:t> </a:t>
            </a:r>
            <a:r>
              <a:rPr dirty="0" sz="4500" spc="135"/>
              <a:t>INTEGRATION</a:t>
            </a:r>
            <a:endParaRPr sz="4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549" y="3039063"/>
            <a:ext cx="133350" cy="1333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549" y="3572463"/>
            <a:ext cx="133350" cy="1333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549" y="4105863"/>
            <a:ext cx="133350" cy="1333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2549" y="4639263"/>
            <a:ext cx="133350" cy="13334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2549" y="6315663"/>
            <a:ext cx="133350" cy="1333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2549" y="6849063"/>
            <a:ext cx="133350" cy="1333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52549" y="7382463"/>
            <a:ext cx="133350" cy="133349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86995" rIns="0" bIns="0" rtlCol="0" vert="horz">
            <a:spAutoFit/>
          </a:bodyPr>
          <a:lstStyle/>
          <a:p>
            <a:pPr algn="ctr" marR="3502025">
              <a:lnSpc>
                <a:spcPct val="100000"/>
              </a:lnSpc>
              <a:spcBef>
                <a:spcPts val="685"/>
              </a:spcBef>
            </a:pPr>
            <a:r>
              <a:rPr dirty="0"/>
              <a:t>Required</a:t>
            </a:r>
            <a:r>
              <a:rPr dirty="0" spc="15"/>
              <a:t> </a:t>
            </a:r>
            <a:r>
              <a:rPr dirty="0" spc="-10"/>
              <a:t>Resources</a:t>
            </a:r>
          </a:p>
          <a:p>
            <a:pPr algn="ctr" marR="3395345">
              <a:lnSpc>
                <a:spcPct val="100000"/>
              </a:lnSpc>
              <a:spcBef>
                <a:spcPts val="560"/>
              </a:spcBef>
            </a:pPr>
            <a:r>
              <a:rPr dirty="0" sz="3000" spc="75" b="0">
                <a:latin typeface="Cambria"/>
                <a:cs typeface="Cambria"/>
              </a:rPr>
              <a:t>Data</a:t>
            </a:r>
            <a:r>
              <a:rPr dirty="0" sz="3000" spc="70" b="0">
                <a:latin typeface="Cambria"/>
                <a:cs typeface="Cambria"/>
              </a:rPr>
              <a:t> </a:t>
            </a:r>
            <a:r>
              <a:rPr dirty="0" sz="3000" spc="65" b="0">
                <a:latin typeface="Cambria"/>
                <a:cs typeface="Cambria"/>
              </a:rPr>
              <a:t>engineers</a:t>
            </a:r>
            <a:endParaRPr sz="3000">
              <a:latin typeface="Cambria"/>
              <a:cs typeface="Cambria"/>
            </a:endParaRPr>
          </a:p>
          <a:p>
            <a:pPr marL="667385" marR="445134">
              <a:lnSpc>
                <a:spcPts val="4200"/>
              </a:lnSpc>
              <a:spcBef>
                <a:spcPts val="240"/>
              </a:spcBef>
            </a:pPr>
            <a:r>
              <a:rPr dirty="0" sz="3000" spc="65" b="0">
                <a:latin typeface="Cambria"/>
                <a:cs typeface="Cambria"/>
              </a:rPr>
              <a:t>Backend</a:t>
            </a:r>
            <a:r>
              <a:rPr dirty="0" sz="3000" spc="130" b="0">
                <a:latin typeface="Cambria"/>
                <a:cs typeface="Cambria"/>
              </a:rPr>
              <a:t> </a:t>
            </a:r>
            <a:r>
              <a:rPr dirty="0" sz="3000" spc="45" b="0">
                <a:latin typeface="Cambria"/>
                <a:cs typeface="Cambria"/>
              </a:rPr>
              <a:t>developers</a:t>
            </a:r>
            <a:r>
              <a:rPr dirty="0" sz="3000" spc="135" b="0">
                <a:latin typeface="Cambria"/>
                <a:cs typeface="Cambria"/>
              </a:rPr>
              <a:t> </a:t>
            </a:r>
            <a:r>
              <a:rPr dirty="0" sz="3000" spc="90" b="0">
                <a:latin typeface="Cambria"/>
                <a:cs typeface="Cambria"/>
              </a:rPr>
              <a:t>(Python-</a:t>
            </a:r>
            <a:r>
              <a:rPr dirty="0" sz="3000" spc="-10" b="0">
                <a:latin typeface="Cambria"/>
                <a:cs typeface="Cambria"/>
              </a:rPr>
              <a:t>based) </a:t>
            </a:r>
            <a:r>
              <a:rPr dirty="0" sz="3000" spc="90" b="0">
                <a:latin typeface="Cambria"/>
                <a:cs typeface="Cambria"/>
              </a:rPr>
              <a:t>GenAI</a:t>
            </a:r>
            <a:r>
              <a:rPr dirty="0" sz="3000" spc="30" b="0">
                <a:latin typeface="Cambria"/>
                <a:cs typeface="Cambria"/>
              </a:rPr>
              <a:t> </a:t>
            </a:r>
            <a:r>
              <a:rPr dirty="0" sz="3000" b="0">
                <a:latin typeface="Cambria"/>
                <a:cs typeface="Cambria"/>
              </a:rPr>
              <a:t>API</a:t>
            </a:r>
            <a:r>
              <a:rPr dirty="0" sz="3000" spc="135" b="0">
                <a:latin typeface="Cambria"/>
                <a:cs typeface="Cambria"/>
              </a:rPr>
              <a:t> </a:t>
            </a:r>
            <a:r>
              <a:rPr dirty="0" sz="3000" spc="50" b="0">
                <a:latin typeface="Cambria"/>
                <a:cs typeface="Cambria"/>
              </a:rPr>
              <a:t>services</a:t>
            </a:r>
            <a:endParaRPr sz="3000">
              <a:latin typeface="Cambria"/>
              <a:cs typeface="Cambria"/>
            </a:endParaRPr>
          </a:p>
          <a:p>
            <a:pPr marL="667385">
              <a:lnSpc>
                <a:spcPct val="100000"/>
              </a:lnSpc>
              <a:spcBef>
                <a:spcPts val="360"/>
              </a:spcBef>
            </a:pPr>
            <a:r>
              <a:rPr dirty="0" sz="3000" spc="155" b="0">
                <a:latin typeface="Cambria"/>
                <a:cs typeface="Cambria"/>
              </a:rPr>
              <a:t>UX</a:t>
            </a:r>
            <a:r>
              <a:rPr dirty="0" sz="3000" spc="65" b="0">
                <a:latin typeface="Cambria"/>
                <a:cs typeface="Cambria"/>
              </a:rPr>
              <a:t> </a:t>
            </a:r>
            <a:r>
              <a:rPr dirty="0" sz="3000" spc="80" b="0">
                <a:latin typeface="Cambria"/>
                <a:cs typeface="Cambria"/>
              </a:rPr>
              <a:t>and</a:t>
            </a:r>
            <a:r>
              <a:rPr dirty="0" sz="3000" spc="105" b="0">
                <a:latin typeface="Cambria"/>
                <a:cs typeface="Cambria"/>
              </a:rPr>
              <a:t> </a:t>
            </a:r>
            <a:r>
              <a:rPr dirty="0" sz="3000" spc="75" b="0">
                <a:latin typeface="Cambria"/>
                <a:cs typeface="Cambria"/>
              </a:rPr>
              <a:t>interface</a:t>
            </a:r>
            <a:r>
              <a:rPr dirty="0" sz="3000" spc="105" b="0">
                <a:latin typeface="Cambria"/>
                <a:cs typeface="Cambria"/>
              </a:rPr>
              <a:t> </a:t>
            </a:r>
            <a:r>
              <a:rPr dirty="0" sz="3000" spc="60" b="0">
                <a:latin typeface="Cambria"/>
                <a:cs typeface="Cambria"/>
              </a:rPr>
              <a:t>support</a:t>
            </a:r>
            <a:endParaRPr sz="3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/>
              <a:t>System</a:t>
            </a:r>
            <a:r>
              <a:rPr dirty="0" spc="100"/>
              <a:t> </a:t>
            </a:r>
            <a:r>
              <a:rPr dirty="0" spc="-10"/>
              <a:t>Integration</a:t>
            </a:r>
          </a:p>
          <a:p>
            <a:pPr marL="667385" marR="5080">
              <a:lnSpc>
                <a:spcPts val="4200"/>
              </a:lnSpc>
              <a:spcBef>
                <a:spcPts val="65"/>
              </a:spcBef>
            </a:pPr>
            <a:r>
              <a:rPr dirty="0" sz="3000" spc="160" b="0">
                <a:latin typeface="Cambria"/>
                <a:cs typeface="Cambria"/>
              </a:rPr>
              <a:t>POS</a:t>
            </a:r>
            <a:r>
              <a:rPr dirty="0" sz="3000" spc="105" b="0">
                <a:latin typeface="Cambria"/>
                <a:cs typeface="Cambria"/>
              </a:rPr>
              <a:t> </a:t>
            </a:r>
            <a:r>
              <a:rPr dirty="0" sz="3000" spc="60" b="0">
                <a:latin typeface="Cambria"/>
                <a:cs typeface="Cambria"/>
              </a:rPr>
              <a:t>systems</a:t>
            </a:r>
            <a:r>
              <a:rPr dirty="0" sz="3000" spc="105" b="0">
                <a:latin typeface="Cambria"/>
                <a:cs typeface="Cambria"/>
              </a:rPr>
              <a:t> </a:t>
            </a:r>
            <a:r>
              <a:rPr dirty="0" sz="3000" spc="65" b="0">
                <a:latin typeface="Cambria"/>
                <a:cs typeface="Cambria"/>
              </a:rPr>
              <a:t>for</a:t>
            </a:r>
            <a:r>
              <a:rPr dirty="0" sz="3000" spc="50" b="0">
                <a:latin typeface="Cambria"/>
                <a:cs typeface="Cambria"/>
              </a:rPr>
              <a:t> </a:t>
            </a:r>
            <a:r>
              <a:rPr dirty="0" sz="3000" spc="135" b="0">
                <a:latin typeface="Cambria"/>
                <a:cs typeface="Cambria"/>
              </a:rPr>
              <a:t>real-</a:t>
            </a:r>
            <a:r>
              <a:rPr dirty="0" sz="3000" spc="80" b="0">
                <a:latin typeface="Cambria"/>
                <a:cs typeface="Cambria"/>
              </a:rPr>
              <a:t>time</a:t>
            </a:r>
            <a:r>
              <a:rPr dirty="0" sz="3000" spc="105" b="0">
                <a:latin typeface="Cambria"/>
                <a:cs typeface="Cambria"/>
              </a:rPr>
              <a:t> </a:t>
            </a:r>
            <a:r>
              <a:rPr dirty="0" sz="3000" spc="60" b="0">
                <a:latin typeface="Cambria"/>
                <a:cs typeface="Cambria"/>
              </a:rPr>
              <a:t>suggestions </a:t>
            </a:r>
            <a:r>
              <a:rPr dirty="0" sz="3000" spc="55" b="0">
                <a:latin typeface="Cambria"/>
                <a:cs typeface="Cambria"/>
              </a:rPr>
              <a:t>Inventory</a:t>
            </a:r>
            <a:r>
              <a:rPr dirty="0" sz="3000" spc="25" b="0">
                <a:latin typeface="Cambria"/>
                <a:cs typeface="Cambria"/>
              </a:rPr>
              <a:t> </a:t>
            </a:r>
            <a:r>
              <a:rPr dirty="0" sz="3000" spc="90" b="0">
                <a:latin typeface="Cambria"/>
                <a:cs typeface="Cambria"/>
              </a:rPr>
              <a:t>management</a:t>
            </a:r>
            <a:r>
              <a:rPr dirty="0" sz="3000" spc="50" b="0">
                <a:latin typeface="Cambria"/>
                <a:cs typeface="Cambria"/>
              </a:rPr>
              <a:t> systems </a:t>
            </a:r>
            <a:r>
              <a:rPr dirty="0" sz="3000" spc="120" b="0">
                <a:latin typeface="Cambria"/>
                <a:cs typeface="Cambria"/>
              </a:rPr>
              <a:t>Customer</a:t>
            </a:r>
            <a:r>
              <a:rPr dirty="0" sz="3000" spc="40" b="0">
                <a:latin typeface="Cambria"/>
                <a:cs typeface="Cambria"/>
              </a:rPr>
              <a:t> </a:t>
            </a:r>
            <a:r>
              <a:rPr dirty="0" sz="3000" spc="50" b="0">
                <a:latin typeface="Cambria"/>
                <a:cs typeface="Cambria"/>
              </a:rPr>
              <a:t>data</a:t>
            </a:r>
            <a:r>
              <a:rPr dirty="0" sz="3000" spc="70" b="0">
                <a:latin typeface="Cambria"/>
                <a:cs typeface="Cambria"/>
              </a:rPr>
              <a:t> </a:t>
            </a:r>
            <a:r>
              <a:rPr dirty="0" sz="3000" spc="60" b="0">
                <a:latin typeface="Cambria"/>
                <a:cs typeface="Cambria"/>
              </a:rPr>
              <a:t>platforms</a:t>
            </a:r>
            <a:endParaRPr sz="3000">
              <a:latin typeface="Cambria"/>
              <a:cs typeface="Cambr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24692" y="3414874"/>
            <a:ext cx="161925" cy="1619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24692" y="4043524"/>
            <a:ext cx="161925" cy="1619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24692" y="4672174"/>
            <a:ext cx="161925" cy="1619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9840517" y="2482402"/>
            <a:ext cx="7031990" cy="254000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3500" spc="-25" b="1">
                <a:latin typeface="Cambria"/>
                <a:cs typeface="Cambria"/>
              </a:rPr>
              <a:t>User</a:t>
            </a:r>
            <a:r>
              <a:rPr dirty="0" sz="3500" spc="-120" b="1">
                <a:latin typeface="Cambria"/>
                <a:cs typeface="Cambria"/>
              </a:rPr>
              <a:t> </a:t>
            </a:r>
            <a:r>
              <a:rPr dirty="0" sz="3500" b="1">
                <a:latin typeface="Cambria"/>
                <a:cs typeface="Cambria"/>
              </a:rPr>
              <a:t>Adoption</a:t>
            </a:r>
            <a:r>
              <a:rPr dirty="0" sz="3500" spc="105" b="1">
                <a:latin typeface="Cambria"/>
                <a:cs typeface="Cambria"/>
              </a:rPr>
              <a:t> </a:t>
            </a:r>
            <a:r>
              <a:rPr dirty="0" sz="3500" spc="-10" b="1">
                <a:latin typeface="Cambria"/>
                <a:cs typeface="Cambria"/>
              </a:rPr>
              <a:t>Strategy</a:t>
            </a:r>
            <a:endParaRPr sz="3500">
              <a:latin typeface="Cambria"/>
              <a:cs typeface="Cambria"/>
            </a:endParaRPr>
          </a:p>
          <a:p>
            <a:pPr marL="776605" marR="5080">
              <a:lnSpc>
                <a:spcPts val="4950"/>
              </a:lnSpc>
              <a:spcBef>
                <a:spcPts val="110"/>
              </a:spcBef>
            </a:pPr>
            <a:r>
              <a:rPr dirty="0" sz="3500" spc="110">
                <a:latin typeface="Cambria"/>
                <a:cs typeface="Cambria"/>
              </a:rPr>
              <a:t>Simple,</a:t>
            </a:r>
            <a:r>
              <a:rPr dirty="0" sz="3500" spc="125">
                <a:latin typeface="Cambria"/>
                <a:cs typeface="Cambria"/>
              </a:rPr>
              <a:t> </a:t>
            </a:r>
            <a:r>
              <a:rPr dirty="0" sz="3500" spc="229">
                <a:latin typeface="Cambria"/>
                <a:cs typeface="Cambria"/>
              </a:rPr>
              <a:t>non-</a:t>
            </a:r>
            <a:r>
              <a:rPr dirty="0" sz="3500" spc="65">
                <a:latin typeface="Cambria"/>
                <a:cs typeface="Cambria"/>
              </a:rPr>
              <a:t>intrusive</a:t>
            </a:r>
            <a:r>
              <a:rPr dirty="0" sz="3500" spc="125">
                <a:latin typeface="Cambria"/>
                <a:cs typeface="Cambria"/>
              </a:rPr>
              <a:t> </a:t>
            </a:r>
            <a:r>
              <a:rPr dirty="0" sz="3500" spc="75">
                <a:latin typeface="Cambria"/>
                <a:cs typeface="Cambria"/>
              </a:rPr>
              <a:t>prompts </a:t>
            </a:r>
            <a:r>
              <a:rPr dirty="0" sz="3500" spc="50">
                <a:latin typeface="Cambria"/>
                <a:cs typeface="Cambria"/>
              </a:rPr>
              <a:t>No</a:t>
            </a:r>
            <a:r>
              <a:rPr dirty="0" sz="3500" spc="114">
                <a:latin typeface="Cambria"/>
                <a:cs typeface="Cambria"/>
              </a:rPr>
              <a:t> </a:t>
            </a:r>
            <a:r>
              <a:rPr dirty="0" sz="3500" spc="100">
                <a:latin typeface="Cambria"/>
                <a:cs typeface="Cambria"/>
              </a:rPr>
              <a:t>change</a:t>
            </a:r>
            <a:r>
              <a:rPr dirty="0" sz="3500" spc="120">
                <a:latin typeface="Cambria"/>
                <a:cs typeface="Cambria"/>
              </a:rPr>
              <a:t> </a:t>
            </a:r>
            <a:r>
              <a:rPr dirty="0" sz="3500" spc="100">
                <a:latin typeface="Cambria"/>
                <a:cs typeface="Cambria"/>
              </a:rPr>
              <a:t>in</a:t>
            </a:r>
            <a:r>
              <a:rPr dirty="0" sz="3500" spc="114">
                <a:latin typeface="Cambria"/>
                <a:cs typeface="Cambria"/>
              </a:rPr>
              <a:t> </a:t>
            </a:r>
            <a:r>
              <a:rPr dirty="0" sz="3500" spc="70">
                <a:latin typeface="Cambria"/>
                <a:cs typeface="Cambria"/>
              </a:rPr>
              <a:t>staff</a:t>
            </a:r>
            <a:r>
              <a:rPr dirty="0" sz="3500" spc="30">
                <a:latin typeface="Cambria"/>
                <a:cs typeface="Cambria"/>
              </a:rPr>
              <a:t> </a:t>
            </a:r>
            <a:r>
              <a:rPr dirty="0" sz="3500" spc="-10">
                <a:latin typeface="Cambria"/>
                <a:cs typeface="Cambria"/>
              </a:rPr>
              <a:t>workflow </a:t>
            </a:r>
            <a:r>
              <a:rPr dirty="0" sz="3500" spc="105">
                <a:latin typeface="Cambria"/>
                <a:cs typeface="Cambria"/>
              </a:rPr>
              <a:t>Minimal</a:t>
            </a:r>
            <a:r>
              <a:rPr dirty="0" sz="3500" spc="85">
                <a:latin typeface="Cambria"/>
                <a:cs typeface="Cambria"/>
              </a:rPr>
              <a:t> training</a:t>
            </a:r>
            <a:r>
              <a:rPr dirty="0" sz="3500" spc="135">
                <a:latin typeface="Cambria"/>
                <a:cs typeface="Cambria"/>
              </a:rPr>
              <a:t> </a:t>
            </a:r>
            <a:r>
              <a:rPr dirty="0" sz="3500" spc="60">
                <a:latin typeface="Cambria"/>
                <a:cs typeface="Cambria"/>
              </a:rPr>
              <a:t>effort</a:t>
            </a:r>
            <a:endParaRPr sz="3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90"/>
              <a:t>BUSINESS</a:t>
            </a:r>
            <a:r>
              <a:rPr dirty="0" spc="75"/>
              <a:t> </a:t>
            </a:r>
            <a:r>
              <a:rPr dirty="0" spc="155"/>
              <a:t>IMPACT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3087494"/>
            <a:ext cx="180975" cy="1809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3773294"/>
            <a:ext cx="180975" cy="1809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4459094"/>
            <a:ext cx="180975" cy="1809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5144893"/>
            <a:ext cx="180975" cy="1809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9817" y="6928167"/>
            <a:ext cx="190500" cy="1904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9817" y="7652067"/>
            <a:ext cx="190500" cy="1904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9817" y="8375967"/>
            <a:ext cx="190500" cy="1904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016000" y="2068382"/>
            <a:ext cx="15488285" cy="7456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49630" marR="8035290" indent="-837565">
              <a:lnSpc>
                <a:spcPct val="116900"/>
              </a:lnSpc>
              <a:spcBef>
                <a:spcPts val="90"/>
              </a:spcBef>
            </a:pPr>
            <a:r>
              <a:rPr dirty="0" sz="3850" b="1">
                <a:latin typeface="Cambria"/>
                <a:cs typeface="Cambria"/>
              </a:rPr>
              <a:t>Key</a:t>
            </a:r>
            <a:r>
              <a:rPr dirty="0" sz="3850" spc="-105" b="1">
                <a:latin typeface="Cambria"/>
                <a:cs typeface="Cambria"/>
              </a:rPr>
              <a:t> </a:t>
            </a:r>
            <a:r>
              <a:rPr dirty="0" sz="3850" b="1">
                <a:latin typeface="Cambria"/>
                <a:cs typeface="Cambria"/>
              </a:rPr>
              <a:t>Performance</a:t>
            </a:r>
            <a:r>
              <a:rPr dirty="0" sz="3850" spc="15" b="1">
                <a:latin typeface="Cambria"/>
                <a:cs typeface="Cambria"/>
              </a:rPr>
              <a:t> </a:t>
            </a:r>
            <a:r>
              <a:rPr dirty="0" sz="3850" spc="-10" b="1">
                <a:latin typeface="Cambria"/>
                <a:cs typeface="Cambria"/>
              </a:rPr>
              <a:t>Indicators </a:t>
            </a:r>
            <a:r>
              <a:rPr dirty="0" sz="3850">
                <a:latin typeface="Cambria"/>
                <a:cs typeface="Cambria"/>
              </a:rPr>
              <a:t>Average</a:t>
            </a:r>
            <a:r>
              <a:rPr dirty="0" sz="3850" spc="229">
                <a:latin typeface="Cambria"/>
                <a:cs typeface="Cambria"/>
              </a:rPr>
              <a:t> </a:t>
            </a:r>
            <a:r>
              <a:rPr dirty="0" sz="3850">
                <a:latin typeface="Cambria"/>
                <a:cs typeface="Cambria"/>
              </a:rPr>
              <a:t>Basket</a:t>
            </a:r>
            <a:r>
              <a:rPr dirty="0" sz="3850" spc="160">
                <a:latin typeface="Cambria"/>
                <a:cs typeface="Cambria"/>
              </a:rPr>
              <a:t> </a:t>
            </a:r>
            <a:r>
              <a:rPr dirty="0" sz="3850" spc="75">
                <a:latin typeface="Cambria"/>
                <a:cs typeface="Cambria"/>
              </a:rPr>
              <a:t>Size:</a:t>
            </a:r>
            <a:r>
              <a:rPr dirty="0" sz="3850" spc="229">
                <a:latin typeface="Cambria"/>
                <a:cs typeface="Cambria"/>
              </a:rPr>
              <a:t> </a:t>
            </a:r>
            <a:r>
              <a:rPr dirty="0" sz="3850" spc="-229">
                <a:latin typeface="Cambria"/>
                <a:cs typeface="Cambria"/>
              </a:rPr>
              <a:t>$45</a:t>
            </a:r>
            <a:r>
              <a:rPr dirty="0" sz="3850" spc="170">
                <a:latin typeface="Cambria"/>
                <a:cs typeface="Cambria"/>
              </a:rPr>
              <a:t> </a:t>
            </a:r>
            <a:r>
              <a:rPr dirty="0" sz="3850" spc="-615">
                <a:latin typeface="Cambria"/>
                <a:cs typeface="Cambria"/>
              </a:rPr>
              <a:t>→</a:t>
            </a:r>
            <a:r>
              <a:rPr dirty="0" sz="3850" spc="229">
                <a:latin typeface="Cambria"/>
                <a:cs typeface="Cambria"/>
              </a:rPr>
              <a:t> </a:t>
            </a:r>
            <a:r>
              <a:rPr dirty="0" sz="3850" spc="-100">
                <a:latin typeface="Cambria"/>
                <a:cs typeface="Cambria"/>
              </a:rPr>
              <a:t>$55 </a:t>
            </a:r>
            <a:r>
              <a:rPr dirty="0" sz="3850" spc="200">
                <a:latin typeface="Cambria"/>
                <a:cs typeface="Cambria"/>
              </a:rPr>
              <a:t>Add-</a:t>
            </a:r>
            <a:r>
              <a:rPr dirty="0" sz="3850" spc="110">
                <a:latin typeface="Cambria"/>
                <a:cs typeface="Cambria"/>
              </a:rPr>
              <a:t>on</a:t>
            </a:r>
            <a:r>
              <a:rPr dirty="0" sz="3850" spc="135">
                <a:latin typeface="Cambria"/>
                <a:cs typeface="Cambria"/>
              </a:rPr>
              <a:t> </a:t>
            </a:r>
            <a:r>
              <a:rPr dirty="0" sz="3850" spc="100">
                <a:latin typeface="Cambria"/>
                <a:cs typeface="Cambria"/>
              </a:rPr>
              <a:t>acceptance</a:t>
            </a:r>
            <a:r>
              <a:rPr dirty="0" sz="3850" spc="130">
                <a:latin typeface="Cambria"/>
                <a:cs typeface="Cambria"/>
              </a:rPr>
              <a:t> </a:t>
            </a:r>
            <a:r>
              <a:rPr dirty="0" sz="3850" spc="50">
                <a:latin typeface="Cambria"/>
                <a:cs typeface="Cambria"/>
              </a:rPr>
              <a:t>rate</a:t>
            </a:r>
            <a:r>
              <a:rPr dirty="0" sz="3850" spc="960">
                <a:latin typeface="Cambria"/>
                <a:cs typeface="Cambria"/>
              </a:rPr>
              <a:t> </a:t>
            </a:r>
            <a:r>
              <a:rPr dirty="0" sz="3850" spc="90">
                <a:latin typeface="Cambria"/>
                <a:cs typeface="Cambria"/>
              </a:rPr>
              <a:t>Items</a:t>
            </a:r>
            <a:r>
              <a:rPr dirty="0" sz="3850" spc="135">
                <a:latin typeface="Cambria"/>
                <a:cs typeface="Cambria"/>
              </a:rPr>
              <a:t> </a:t>
            </a:r>
            <a:r>
              <a:rPr dirty="0" sz="3850" spc="95">
                <a:latin typeface="Cambria"/>
                <a:cs typeface="Cambria"/>
              </a:rPr>
              <a:t>per</a:t>
            </a:r>
            <a:r>
              <a:rPr dirty="0" sz="3850" spc="-5">
                <a:latin typeface="Cambria"/>
                <a:cs typeface="Cambria"/>
              </a:rPr>
              <a:t> </a:t>
            </a:r>
            <a:r>
              <a:rPr dirty="0" sz="3850" spc="75">
                <a:latin typeface="Cambria"/>
                <a:cs typeface="Cambria"/>
              </a:rPr>
              <a:t>transaction </a:t>
            </a:r>
            <a:r>
              <a:rPr dirty="0" sz="3850" spc="155">
                <a:latin typeface="Cambria"/>
                <a:cs typeface="Cambria"/>
              </a:rPr>
              <a:t>Customer</a:t>
            </a:r>
            <a:r>
              <a:rPr dirty="0" sz="3850" spc="55">
                <a:latin typeface="Cambria"/>
                <a:cs typeface="Cambria"/>
              </a:rPr>
              <a:t> </a:t>
            </a:r>
            <a:r>
              <a:rPr dirty="0" sz="3850" spc="75">
                <a:latin typeface="Cambria"/>
                <a:cs typeface="Cambria"/>
              </a:rPr>
              <a:t>satisfaction</a:t>
            </a:r>
            <a:r>
              <a:rPr dirty="0" sz="3850" spc="140">
                <a:latin typeface="Cambria"/>
                <a:cs typeface="Cambria"/>
              </a:rPr>
              <a:t> </a:t>
            </a:r>
            <a:r>
              <a:rPr dirty="0" sz="3850" spc="75">
                <a:latin typeface="Cambria"/>
                <a:cs typeface="Cambria"/>
              </a:rPr>
              <a:t>score</a:t>
            </a:r>
            <a:endParaRPr sz="3850">
              <a:latin typeface="Cambria"/>
              <a:cs typeface="Cambria"/>
            </a:endParaRPr>
          </a:p>
          <a:p>
            <a:pPr marL="6395085">
              <a:lnSpc>
                <a:spcPct val="100000"/>
              </a:lnSpc>
              <a:spcBef>
                <a:spcPts val="3600"/>
              </a:spcBef>
            </a:pPr>
            <a:r>
              <a:rPr dirty="0" sz="4050" spc="45" b="1">
                <a:latin typeface="Cambria"/>
                <a:cs typeface="Cambria"/>
              </a:rPr>
              <a:t>Contribution</a:t>
            </a:r>
            <a:r>
              <a:rPr dirty="0" sz="4050" spc="65" b="1">
                <a:latin typeface="Cambria"/>
                <a:cs typeface="Cambria"/>
              </a:rPr>
              <a:t> </a:t>
            </a:r>
            <a:r>
              <a:rPr dirty="0" sz="4050" spc="-10" b="1">
                <a:latin typeface="Cambria"/>
                <a:cs typeface="Cambria"/>
              </a:rPr>
              <a:t>Breakdown</a:t>
            </a:r>
            <a:endParaRPr sz="4050">
              <a:latin typeface="Cambria"/>
              <a:cs typeface="Cambria"/>
            </a:endParaRPr>
          </a:p>
          <a:p>
            <a:pPr marL="7275195">
              <a:lnSpc>
                <a:spcPct val="100000"/>
              </a:lnSpc>
              <a:spcBef>
                <a:spcPts val="840"/>
              </a:spcBef>
            </a:pPr>
            <a:r>
              <a:rPr dirty="0" sz="4050" spc="85">
                <a:latin typeface="Cambria"/>
                <a:cs typeface="Cambria"/>
              </a:rPr>
              <a:t>Product</a:t>
            </a:r>
            <a:r>
              <a:rPr dirty="0" sz="4050" spc="50">
                <a:latin typeface="Cambria"/>
                <a:cs typeface="Cambria"/>
              </a:rPr>
              <a:t> </a:t>
            </a:r>
            <a:r>
              <a:rPr dirty="0" sz="4050" spc="100">
                <a:latin typeface="Cambria"/>
                <a:cs typeface="Cambria"/>
              </a:rPr>
              <a:t>recommendations:</a:t>
            </a:r>
            <a:r>
              <a:rPr dirty="0" sz="4050" spc="140">
                <a:latin typeface="Cambria"/>
                <a:cs typeface="Cambria"/>
              </a:rPr>
              <a:t> </a:t>
            </a:r>
            <a:r>
              <a:rPr dirty="0" sz="4050" spc="-75">
                <a:latin typeface="Cambria"/>
                <a:cs typeface="Cambria"/>
              </a:rPr>
              <a:t>+8–10%</a:t>
            </a:r>
            <a:endParaRPr sz="4050">
              <a:latin typeface="Cambria"/>
              <a:cs typeface="Cambria"/>
            </a:endParaRPr>
          </a:p>
          <a:p>
            <a:pPr marL="7275195">
              <a:lnSpc>
                <a:spcPct val="100000"/>
              </a:lnSpc>
              <a:spcBef>
                <a:spcPts val="840"/>
              </a:spcBef>
            </a:pPr>
            <a:r>
              <a:rPr dirty="0" sz="4050" spc="200">
                <a:latin typeface="Cambria"/>
                <a:cs typeface="Cambria"/>
              </a:rPr>
              <a:t>GenAI-</a:t>
            </a:r>
            <a:r>
              <a:rPr dirty="0" sz="4050" spc="85">
                <a:latin typeface="Cambria"/>
                <a:cs typeface="Cambria"/>
              </a:rPr>
              <a:t>generated</a:t>
            </a:r>
            <a:r>
              <a:rPr dirty="0" sz="4050" spc="145">
                <a:latin typeface="Cambria"/>
                <a:cs typeface="Cambria"/>
              </a:rPr>
              <a:t> </a:t>
            </a:r>
            <a:r>
              <a:rPr dirty="0" sz="4050" spc="70">
                <a:latin typeface="Cambria"/>
                <a:cs typeface="Cambria"/>
              </a:rPr>
              <a:t>offers:</a:t>
            </a:r>
            <a:r>
              <a:rPr dirty="0" sz="4050" spc="160">
                <a:latin typeface="Cambria"/>
                <a:cs typeface="Cambria"/>
              </a:rPr>
              <a:t> </a:t>
            </a:r>
            <a:r>
              <a:rPr dirty="0" sz="4050" spc="-290">
                <a:latin typeface="Cambria"/>
                <a:cs typeface="Cambria"/>
              </a:rPr>
              <a:t>+5–7%</a:t>
            </a:r>
            <a:endParaRPr sz="4050">
              <a:latin typeface="Cambria"/>
              <a:cs typeface="Cambria"/>
            </a:endParaRPr>
          </a:p>
          <a:p>
            <a:pPr marL="7275195">
              <a:lnSpc>
                <a:spcPct val="100000"/>
              </a:lnSpc>
              <a:spcBef>
                <a:spcPts val="840"/>
              </a:spcBef>
            </a:pPr>
            <a:r>
              <a:rPr dirty="0" sz="4050" spc="90">
                <a:latin typeface="Cambria"/>
                <a:cs typeface="Cambria"/>
              </a:rPr>
              <a:t>Conversational</a:t>
            </a:r>
            <a:r>
              <a:rPr dirty="0" sz="4050" spc="160">
                <a:latin typeface="Cambria"/>
                <a:cs typeface="Cambria"/>
              </a:rPr>
              <a:t> </a:t>
            </a:r>
            <a:r>
              <a:rPr dirty="0" sz="4050" spc="60">
                <a:latin typeface="Cambria"/>
                <a:cs typeface="Cambria"/>
              </a:rPr>
              <a:t>assistant:</a:t>
            </a:r>
            <a:r>
              <a:rPr dirty="0" sz="4050" spc="155">
                <a:latin typeface="Cambria"/>
                <a:cs typeface="Cambria"/>
              </a:rPr>
              <a:t> </a:t>
            </a:r>
            <a:r>
              <a:rPr dirty="0" sz="4050" spc="-10">
                <a:latin typeface="Cambria"/>
                <a:cs typeface="Cambria"/>
              </a:rPr>
              <a:t>+3–5%</a:t>
            </a:r>
            <a:endParaRPr sz="4050">
              <a:latin typeface="Cambria"/>
              <a:cs typeface="Cambria"/>
            </a:endParaRPr>
          </a:p>
          <a:p>
            <a:pPr marL="7084695">
              <a:lnSpc>
                <a:spcPct val="100000"/>
              </a:lnSpc>
              <a:spcBef>
                <a:spcPts val="1875"/>
              </a:spcBef>
            </a:pPr>
            <a:r>
              <a:rPr dirty="0" sz="3400">
                <a:latin typeface="Cambria"/>
                <a:cs typeface="Cambria"/>
              </a:rPr>
              <a:t>Total</a:t>
            </a:r>
            <a:r>
              <a:rPr dirty="0" sz="3400" spc="125">
                <a:latin typeface="Cambria"/>
                <a:cs typeface="Cambria"/>
              </a:rPr>
              <a:t> </a:t>
            </a:r>
            <a:r>
              <a:rPr dirty="0" sz="3400" spc="80">
                <a:latin typeface="Cambria"/>
                <a:cs typeface="Cambria"/>
              </a:rPr>
              <a:t>Expected</a:t>
            </a:r>
            <a:r>
              <a:rPr dirty="0" sz="3400" spc="130">
                <a:latin typeface="Cambria"/>
                <a:cs typeface="Cambria"/>
              </a:rPr>
              <a:t> </a:t>
            </a:r>
            <a:r>
              <a:rPr dirty="0" sz="3400" spc="55">
                <a:latin typeface="Cambria"/>
                <a:cs typeface="Cambria"/>
              </a:rPr>
              <a:t>Improvement:</a:t>
            </a:r>
            <a:r>
              <a:rPr dirty="0" sz="3400" spc="130">
                <a:latin typeface="Cambria"/>
                <a:cs typeface="Cambria"/>
              </a:rPr>
              <a:t> </a:t>
            </a:r>
            <a:r>
              <a:rPr dirty="0" sz="3400" spc="-10">
                <a:latin typeface="Cambria"/>
                <a:cs typeface="Cambria"/>
              </a:rPr>
              <a:t>25–30%</a:t>
            </a:r>
            <a:endParaRPr sz="3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4" y="17607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1011587"/>
            <a:ext cx="825627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7500" algn="l"/>
                <a:tab pos="3298825" algn="l"/>
                <a:tab pos="4038600" algn="l"/>
              </a:tabLst>
            </a:pPr>
            <a:r>
              <a:rPr dirty="0" spc="409"/>
              <a:t>ROI,</a:t>
            </a:r>
            <a:r>
              <a:rPr dirty="0"/>
              <a:t>	</a:t>
            </a:r>
            <a:r>
              <a:rPr dirty="0" spc="375"/>
              <a:t>RISK</a:t>
            </a:r>
            <a:r>
              <a:rPr dirty="0"/>
              <a:t>	</a:t>
            </a:r>
            <a:r>
              <a:rPr dirty="0" spc="660"/>
              <a:t>&amp;</a:t>
            </a:r>
            <a:r>
              <a:rPr dirty="0"/>
              <a:t>	</a:t>
            </a:r>
            <a:r>
              <a:rPr dirty="0" spc="434"/>
              <a:t>SCALABILITY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649" y="2947808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49" y="3547883"/>
            <a:ext cx="152400" cy="152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49" y="4147958"/>
            <a:ext cx="152400" cy="1523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0649" y="5376683"/>
            <a:ext cx="152400" cy="1523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0649" y="5976758"/>
            <a:ext cx="152400" cy="152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90649" y="6576833"/>
            <a:ext cx="152400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90649" y="7805558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0649" y="8405633"/>
            <a:ext cx="152400" cy="1523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0649" y="9005709"/>
            <a:ext cx="152400" cy="152398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016000" y="2043968"/>
            <a:ext cx="11663680" cy="728916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550" b="1">
                <a:latin typeface="Cambria"/>
                <a:cs typeface="Cambria"/>
              </a:rPr>
              <a:t>Return</a:t>
            </a:r>
            <a:r>
              <a:rPr dirty="0" sz="3550" spc="90" b="1">
                <a:latin typeface="Cambria"/>
                <a:cs typeface="Cambria"/>
              </a:rPr>
              <a:t> </a:t>
            </a:r>
            <a:r>
              <a:rPr dirty="0" sz="3550" b="1">
                <a:latin typeface="Cambria"/>
                <a:cs typeface="Cambria"/>
              </a:rPr>
              <a:t>on</a:t>
            </a:r>
            <a:r>
              <a:rPr dirty="0" sz="3550" spc="90" b="1">
                <a:latin typeface="Cambria"/>
                <a:cs typeface="Cambria"/>
              </a:rPr>
              <a:t> </a:t>
            </a:r>
            <a:r>
              <a:rPr dirty="0" sz="3550" spc="-10" b="1">
                <a:latin typeface="Cambria"/>
                <a:cs typeface="Cambria"/>
              </a:rPr>
              <a:t>Investment</a:t>
            </a:r>
            <a:endParaRPr sz="3550">
              <a:latin typeface="Cambria"/>
              <a:cs typeface="Cambria"/>
            </a:endParaRPr>
          </a:p>
          <a:p>
            <a:pPr marL="741680" marR="5080">
              <a:lnSpc>
                <a:spcPts val="4730"/>
              </a:lnSpc>
              <a:spcBef>
                <a:spcPts val="155"/>
              </a:spcBef>
            </a:pPr>
            <a:r>
              <a:rPr dirty="0" sz="3350" spc="60">
                <a:latin typeface="Cambria"/>
                <a:cs typeface="Cambria"/>
              </a:rPr>
              <a:t>Revenue</a:t>
            </a:r>
            <a:r>
              <a:rPr dirty="0" sz="3350" spc="110">
                <a:latin typeface="Cambria"/>
                <a:cs typeface="Cambria"/>
              </a:rPr>
              <a:t> </a:t>
            </a:r>
            <a:r>
              <a:rPr dirty="0" sz="3350" spc="65">
                <a:latin typeface="Cambria"/>
                <a:cs typeface="Cambria"/>
              </a:rPr>
              <a:t>growth</a:t>
            </a:r>
            <a:r>
              <a:rPr dirty="0" sz="3350" spc="25">
                <a:latin typeface="Cambria"/>
                <a:cs typeface="Cambria"/>
              </a:rPr>
              <a:t> </a:t>
            </a:r>
            <a:r>
              <a:rPr dirty="0" sz="3350" spc="65">
                <a:latin typeface="Cambria"/>
                <a:cs typeface="Cambria"/>
              </a:rPr>
              <a:t>without</a:t>
            </a:r>
            <a:r>
              <a:rPr dirty="0" sz="3350" spc="55">
                <a:latin typeface="Cambria"/>
                <a:cs typeface="Cambria"/>
              </a:rPr>
              <a:t> </a:t>
            </a:r>
            <a:r>
              <a:rPr dirty="0" sz="3350" spc="60">
                <a:latin typeface="Cambria"/>
                <a:cs typeface="Cambria"/>
              </a:rPr>
              <a:t>additional</a:t>
            </a:r>
            <a:r>
              <a:rPr dirty="0" sz="3350" spc="114">
                <a:latin typeface="Cambria"/>
                <a:cs typeface="Cambria"/>
              </a:rPr>
              <a:t> </a:t>
            </a:r>
            <a:r>
              <a:rPr dirty="0" sz="3350" spc="100">
                <a:latin typeface="Cambria"/>
                <a:cs typeface="Cambria"/>
              </a:rPr>
              <a:t>customer</a:t>
            </a:r>
            <a:r>
              <a:rPr dirty="0" sz="3350" spc="40">
                <a:latin typeface="Cambria"/>
                <a:cs typeface="Cambria"/>
              </a:rPr>
              <a:t> </a:t>
            </a:r>
            <a:r>
              <a:rPr dirty="0" sz="3350" spc="65">
                <a:latin typeface="Cambria"/>
                <a:cs typeface="Cambria"/>
              </a:rPr>
              <a:t>acquisition Utilizes</a:t>
            </a:r>
            <a:r>
              <a:rPr dirty="0" sz="3350" spc="100">
                <a:latin typeface="Cambria"/>
                <a:cs typeface="Cambria"/>
              </a:rPr>
              <a:t> </a:t>
            </a:r>
            <a:r>
              <a:rPr dirty="0" sz="3350" spc="70">
                <a:latin typeface="Cambria"/>
                <a:cs typeface="Cambria"/>
              </a:rPr>
              <a:t>existing</a:t>
            </a:r>
            <a:r>
              <a:rPr dirty="0" sz="3350" spc="110">
                <a:latin typeface="Cambria"/>
                <a:cs typeface="Cambria"/>
              </a:rPr>
              <a:t> </a:t>
            </a:r>
            <a:r>
              <a:rPr dirty="0" sz="3350" spc="50">
                <a:latin typeface="Cambria"/>
                <a:cs typeface="Cambria"/>
              </a:rPr>
              <a:t>data</a:t>
            </a:r>
            <a:r>
              <a:rPr dirty="0" sz="3350" spc="70">
                <a:latin typeface="Cambria"/>
                <a:cs typeface="Cambria"/>
              </a:rPr>
              <a:t> </a:t>
            </a:r>
            <a:r>
              <a:rPr dirty="0" sz="3350" spc="80">
                <a:latin typeface="Cambria"/>
                <a:cs typeface="Cambria"/>
              </a:rPr>
              <a:t>and</a:t>
            </a:r>
            <a:r>
              <a:rPr dirty="0" sz="3350" spc="114">
                <a:latin typeface="Cambria"/>
                <a:cs typeface="Cambria"/>
              </a:rPr>
              <a:t> </a:t>
            </a:r>
            <a:r>
              <a:rPr dirty="0" sz="3350" spc="55">
                <a:latin typeface="Cambria"/>
                <a:cs typeface="Cambria"/>
              </a:rPr>
              <a:t>systems</a:t>
            </a:r>
            <a:endParaRPr sz="3350">
              <a:latin typeface="Cambria"/>
              <a:cs typeface="Cambria"/>
            </a:endParaRPr>
          </a:p>
          <a:p>
            <a:pPr marL="741680">
              <a:lnSpc>
                <a:spcPct val="100000"/>
              </a:lnSpc>
              <a:spcBef>
                <a:spcPts val="425"/>
              </a:spcBef>
            </a:pPr>
            <a:r>
              <a:rPr dirty="0" sz="3350" spc="235">
                <a:latin typeface="Cambria"/>
                <a:cs typeface="Cambria"/>
              </a:rPr>
              <a:t>Cost-</a:t>
            </a:r>
            <a:r>
              <a:rPr dirty="0" sz="3350" spc="55">
                <a:latin typeface="Cambria"/>
                <a:cs typeface="Cambria"/>
              </a:rPr>
              <a:t>effective</a:t>
            </a:r>
            <a:r>
              <a:rPr dirty="0" sz="3350" spc="114">
                <a:latin typeface="Cambria"/>
                <a:cs typeface="Cambria"/>
              </a:rPr>
              <a:t> </a:t>
            </a:r>
            <a:r>
              <a:rPr dirty="0" sz="3350" spc="80">
                <a:latin typeface="Cambria"/>
                <a:cs typeface="Cambria"/>
              </a:rPr>
              <a:t>implementation</a:t>
            </a:r>
            <a:r>
              <a:rPr dirty="0" sz="3350" spc="125">
                <a:latin typeface="Cambria"/>
                <a:cs typeface="Cambria"/>
              </a:rPr>
              <a:t> </a:t>
            </a:r>
            <a:r>
              <a:rPr dirty="0" sz="3350" spc="95">
                <a:latin typeface="Cambria"/>
                <a:cs typeface="Cambria"/>
              </a:rPr>
              <a:t>under</a:t>
            </a:r>
            <a:r>
              <a:rPr dirty="0" sz="3350" spc="50">
                <a:latin typeface="Cambria"/>
                <a:cs typeface="Cambria"/>
              </a:rPr>
              <a:t> </a:t>
            </a:r>
            <a:r>
              <a:rPr dirty="0" sz="3350">
                <a:latin typeface="Cambria"/>
                <a:cs typeface="Cambria"/>
              </a:rPr>
              <a:t>a</a:t>
            </a:r>
            <a:r>
              <a:rPr dirty="0" sz="3350" spc="80">
                <a:latin typeface="Cambria"/>
                <a:cs typeface="Cambria"/>
              </a:rPr>
              <a:t> </a:t>
            </a:r>
            <a:r>
              <a:rPr dirty="0" sz="3350" spc="100">
                <a:latin typeface="Cambria"/>
                <a:cs typeface="Cambria"/>
              </a:rPr>
              <a:t>$</a:t>
            </a:r>
            <a:r>
              <a:rPr dirty="0" cap="small" sz="3350" spc="100">
                <a:latin typeface="Cambria"/>
                <a:cs typeface="Cambria"/>
              </a:rPr>
              <a:t>2</a:t>
            </a:r>
            <a:r>
              <a:rPr dirty="0" sz="3350" spc="100">
                <a:latin typeface="Cambria"/>
                <a:cs typeface="Cambria"/>
              </a:rPr>
              <a:t>00,000</a:t>
            </a:r>
            <a:r>
              <a:rPr dirty="0" sz="3350" spc="130">
                <a:latin typeface="Cambria"/>
                <a:cs typeface="Cambria"/>
              </a:rPr>
              <a:t> </a:t>
            </a:r>
            <a:r>
              <a:rPr dirty="0" sz="3350" spc="65">
                <a:latin typeface="Cambria"/>
                <a:cs typeface="Cambria"/>
              </a:rPr>
              <a:t>budget</a:t>
            </a:r>
            <a:endParaRPr sz="3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3550" b="1">
                <a:latin typeface="Cambria"/>
                <a:cs typeface="Cambria"/>
              </a:rPr>
              <a:t>Risk</a:t>
            </a:r>
            <a:r>
              <a:rPr dirty="0" sz="3550" spc="130" b="1">
                <a:latin typeface="Cambria"/>
                <a:cs typeface="Cambria"/>
              </a:rPr>
              <a:t> </a:t>
            </a:r>
            <a:r>
              <a:rPr dirty="0" sz="3550" spc="-10" b="1">
                <a:latin typeface="Cambria"/>
                <a:cs typeface="Cambria"/>
              </a:rPr>
              <a:t>Mitigation</a:t>
            </a:r>
            <a:endParaRPr sz="3550">
              <a:latin typeface="Cambria"/>
              <a:cs typeface="Cambria"/>
            </a:endParaRPr>
          </a:p>
          <a:p>
            <a:pPr marL="741680" marR="2362200">
              <a:lnSpc>
                <a:spcPts val="4730"/>
              </a:lnSpc>
              <a:spcBef>
                <a:spcPts val="155"/>
              </a:spcBef>
            </a:pPr>
            <a:r>
              <a:rPr dirty="0" sz="3350" spc="85">
                <a:latin typeface="Cambria"/>
                <a:cs typeface="Cambria"/>
              </a:rPr>
              <a:t>Strong</a:t>
            </a:r>
            <a:r>
              <a:rPr dirty="0" sz="3350" spc="114">
                <a:latin typeface="Cambria"/>
                <a:cs typeface="Cambria"/>
              </a:rPr>
              <a:t> </a:t>
            </a:r>
            <a:r>
              <a:rPr dirty="0" sz="3350" spc="50">
                <a:latin typeface="Cambria"/>
                <a:cs typeface="Cambria"/>
              </a:rPr>
              <a:t>data</a:t>
            </a:r>
            <a:r>
              <a:rPr dirty="0" sz="3350" spc="75">
                <a:latin typeface="Cambria"/>
                <a:cs typeface="Cambria"/>
              </a:rPr>
              <a:t> </a:t>
            </a:r>
            <a:r>
              <a:rPr dirty="0" sz="3350" spc="50">
                <a:latin typeface="Cambria"/>
                <a:cs typeface="Cambria"/>
              </a:rPr>
              <a:t>privacy</a:t>
            </a:r>
            <a:r>
              <a:rPr dirty="0" sz="3350" spc="25">
                <a:latin typeface="Cambria"/>
                <a:cs typeface="Cambria"/>
              </a:rPr>
              <a:t> </a:t>
            </a:r>
            <a:r>
              <a:rPr dirty="0" sz="3350" spc="80">
                <a:latin typeface="Cambria"/>
                <a:cs typeface="Cambria"/>
              </a:rPr>
              <a:t>and</a:t>
            </a:r>
            <a:r>
              <a:rPr dirty="0" sz="3350" spc="114">
                <a:latin typeface="Cambria"/>
                <a:cs typeface="Cambria"/>
              </a:rPr>
              <a:t> </a:t>
            </a:r>
            <a:r>
              <a:rPr dirty="0" sz="3350" spc="95">
                <a:latin typeface="Cambria"/>
                <a:cs typeface="Cambria"/>
              </a:rPr>
              <a:t>compliance</a:t>
            </a:r>
            <a:r>
              <a:rPr dirty="0" sz="3350" spc="114">
                <a:latin typeface="Cambria"/>
                <a:cs typeface="Cambria"/>
              </a:rPr>
              <a:t> </a:t>
            </a:r>
            <a:r>
              <a:rPr dirty="0" sz="3350" spc="60">
                <a:latin typeface="Cambria"/>
                <a:cs typeface="Cambria"/>
              </a:rPr>
              <a:t>controls </a:t>
            </a:r>
            <a:r>
              <a:rPr dirty="0" sz="3350" spc="130">
                <a:latin typeface="Cambria"/>
                <a:cs typeface="Cambria"/>
              </a:rPr>
              <a:t>Human</a:t>
            </a:r>
            <a:r>
              <a:rPr dirty="0" sz="3350" spc="110">
                <a:latin typeface="Cambria"/>
                <a:cs typeface="Cambria"/>
              </a:rPr>
              <a:t> </a:t>
            </a:r>
            <a:r>
              <a:rPr dirty="0" sz="3350" spc="60">
                <a:latin typeface="Cambria"/>
                <a:cs typeface="Cambria"/>
              </a:rPr>
              <a:t>oversight </a:t>
            </a:r>
            <a:r>
              <a:rPr dirty="0" sz="3350" spc="70">
                <a:latin typeface="Cambria"/>
                <a:cs typeface="Cambria"/>
              </a:rPr>
              <a:t>for</a:t>
            </a:r>
            <a:r>
              <a:rPr dirty="0" sz="3350" spc="40">
                <a:latin typeface="Cambria"/>
                <a:cs typeface="Cambria"/>
              </a:rPr>
              <a:t> </a:t>
            </a:r>
            <a:r>
              <a:rPr dirty="0" sz="3350" spc="75">
                <a:latin typeface="Cambria"/>
                <a:cs typeface="Cambria"/>
              </a:rPr>
              <a:t>promotional</a:t>
            </a:r>
            <a:r>
              <a:rPr dirty="0" sz="3350" spc="15">
                <a:latin typeface="Cambria"/>
                <a:cs typeface="Cambria"/>
              </a:rPr>
              <a:t> </a:t>
            </a:r>
            <a:r>
              <a:rPr dirty="0" sz="3350" spc="75">
                <a:latin typeface="Cambria"/>
                <a:cs typeface="Cambria"/>
              </a:rPr>
              <a:t>logic</a:t>
            </a:r>
            <a:endParaRPr sz="3350">
              <a:latin typeface="Cambria"/>
              <a:cs typeface="Cambria"/>
            </a:endParaRPr>
          </a:p>
          <a:p>
            <a:pPr marL="741680">
              <a:lnSpc>
                <a:spcPct val="100000"/>
              </a:lnSpc>
              <a:spcBef>
                <a:spcPts val="425"/>
              </a:spcBef>
            </a:pPr>
            <a:r>
              <a:rPr dirty="0" sz="3350" spc="50">
                <a:latin typeface="Cambria"/>
                <a:cs typeface="Cambria"/>
              </a:rPr>
              <a:t>Pilot</a:t>
            </a:r>
            <a:r>
              <a:rPr dirty="0" sz="3350" spc="20">
                <a:latin typeface="Cambria"/>
                <a:cs typeface="Cambria"/>
              </a:rPr>
              <a:t> </a:t>
            </a:r>
            <a:r>
              <a:rPr dirty="0" sz="3350" spc="70">
                <a:latin typeface="Cambria"/>
                <a:cs typeface="Cambria"/>
              </a:rPr>
              <a:t>testing</a:t>
            </a:r>
            <a:r>
              <a:rPr dirty="0" sz="3350" spc="125">
                <a:latin typeface="Cambria"/>
                <a:cs typeface="Cambria"/>
              </a:rPr>
              <a:t> </a:t>
            </a:r>
            <a:r>
              <a:rPr dirty="0" sz="3350" spc="50">
                <a:latin typeface="Cambria"/>
                <a:cs typeface="Cambria"/>
              </a:rPr>
              <a:t>before</a:t>
            </a:r>
            <a:r>
              <a:rPr dirty="0" sz="3350" spc="120">
                <a:latin typeface="Cambria"/>
                <a:cs typeface="Cambria"/>
              </a:rPr>
              <a:t> </a:t>
            </a:r>
            <a:r>
              <a:rPr dirty="0" sz="3350" spc="165">
                <a:latin typeface="Cambria"/>
                <a:cs typeface="Cambria"/>
              </a:rPr>
              <a:t>full-</a:t>
            </a:r>
            <a:r>
              <a:rPr dirty="0" sz="3350" spc="65">
                <a:latin typeface="Cambria"/>
                <a:cs typeface="Cambria"/>
              </a:rPr>
              <a:t>scale</a:t>
            </a:r>
            <a:r>
              <a:rPr dirty="0" sz="3350" spc="125">
                <a:latin typeface="Cambria"/>
                <a:cs typeface="Cambria"/>
              </a:rPr>
              <a:t> </a:t>
            </a:r>
            <a:r>
              <a:rPr dirty="0" sz="3350" spc="40">
                <a:latin typeface="Cambria"/>
                <a:cs typeface="Cambria"/>
              </a:rPr>
              <a:t>rollout</a:t>
            </a:r>
            <a:endParaRPr sz="3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3550" b="1">
                <a:latin typeface="Cambria"/>
                <a:cs typeface="Cambria"/>
              </a:rPr>
              <a:t>Future</a:t>
            </a:r>
            <a:r>
              <a:rPr dirty="0" sz="3550" spc="75" b="1">
                <a:latin typeface="Cambria"/>
                <a:cs typeface="Cambria"/>
              </a:rPr>
              <a:t> </a:t>
            </a:r>
            <a:r>
              <a:rPr dirty="0" sz="3550" spc="-10" b="1">
                <a:latin typeface="Cambria"/>
                <a:cs typeface="Cambria"/>
              </a:rPr>
              <a:t>Scalability</a:t>
            </a:r>
            <a:endParaRPr sz="3550">
              <a:latin typeface="Cambria"/>
              <a:cs typeface="Cambria"/>
            </a:endParaRPr>
          </a:p>
          <a:p>
            <a:pPr marL="741680" marR="3858260">
              <a:lnSpc>
                <a:spcPts val="4730"/>
              </a:lnSpc>
              <a:spcBef>
                <a:spcPts val="155"/>
              </a:spcBef>
            </a:pPr>
            <a:r>
              <a:rPr dirty="0" sz="3350" spc="85">
                <a:latin typeface="Cambria"/>
                <a:cs typeface="Cambria"/>
              </a:rPr>
              <a:t>Expansion</a:t>
            </a:r>
            <a:r>
              <a:rPr dirty="0" sz="3350" spc="105">
                <a:latin typeface="Cambria"/>
                <a:cs typeface="Cambria"/>
              </a:rPr>
              <a:t> </a:t>
            </a:r>
            <a:r>
              <a:rPr dirty="0" sz="3350" spc="70">
                <a:latin typeface="Cambria"/>
                <a:cs typeface="Cambria"/>
              </a:rPr>
              <a:t>across</a:t>
            </a:r>
            <a:r>
              <a:rPr dirty="0" sz="3350" spc="114">
                <a:latin typeface="Cambria"/>
                <a:cs typeface="Cambria"/>
              </a:rPr>
              <a:t> </a:t>
            </a:r>
            <a:r>
              <a:rPr dirty="0" sz="3350" spc="75">
                <a:latin typeface="Cambria"/>
                <a:cs typeface="Cambria"/>
              </a:rPr>
              <a:t>multiple</a:t>
            </a:r>
            <a:r>
              <a:rPr dirty="0" sz="3350" spc="114">
                <a:latin typeface="Cambria"/>
                <a:cs typeface="Cambria"/>
              </a:rPr>
              <a:t> </a:t>
            </a:r>
            <a:r>
              <a:rPr dirty="0" sz="3350" spc="45">
                <a:latin typeface="Cambria"/>
                <a:cs typeface="Cambria"/>
              </a:rPr>
              <a:t>stores </a:t>
            </a:r>
            <a:r>
              <a:rPr dirty="0" sz="3350" spc="130">
                <a:latin typeface="Cambria"/>
                <a:cs typeface="Cambria"/>
              </a:rPr>
              <a:t>Voice-</a:t>
            </a:r>
            <a:r>
              <a:rPr dirty="0" sz="3350" spc="55">
                <a:latin typeface="Cambria"/>
                <a:cs typeface="Cambria"/>
              </a:rPr>
              <a:t>enabled</a:t>
            </a:r>
            <a:r>
              <a:rPr dirty="0" sz="3350" spc="110">
                <a:latin typeface="Cambria"/>
                <a:cs typeface="Cambria"/>
              </a:rPr>
              <a:t> </a:t>
            </a:r>
            <a:r>
              <a:rPr dirty="0" sz="3350" spc="90">
                <a:latin typeface="Cambria"/>
                <a:cs typeface="Cambria"/>
              </a:rPr>
              <a:t>shopping</a:t>
            </a:r>
            <a:r>
              <a:rPr dirty="0" sz="3350" spc="120">
                <a:latin typeface="Cambria"/>
                <a:cs typeface="Cambria"/>
              </a:rPr>
              <a:t> </a:t>
            </a:r>
            <a:r>
              <a:rPr dirty="0" sz="3350" spc="70">
                <a:latin typeface="Cambria"/>
                <a:cs typeface="Cambria"/>
              </a:rPr>
              <a:t>experiences</a:t>
            </a:r>
            <a:endParaRPr sz="3350">
              <a:latin typeface="Cambria"/>
              <a:cs typeface="Cambria"/>
            </a:endParaRPr>
          </a:p>
          <a:p>
            <a:pPr marL="741680">
              <a:lnSpc>
                <a:spcPct val="100000"/>
              </a:lnSpc>
              <a:spcBef>
                <a:spcPts val="425"/>
              </a:spcBef>
            </a:pPr>
            <a:r>
              <a:rPr dirty="0" sz="3350" spc="60">
                <a:latin typeface="Cambria"/>
                <a:cs typeface="Cambria"/>
              </a:rPr>
              <a:t>Advanced</a:t>
            </a:r>
            <a:r>
              <a:rPr dirty="0" sz="3350" spc="-5">
                <a:latin typeface="Cambria"/>
                <a:cs typeface="Cambria"/>
              </a:rPr>
              <a:t> </a:t>
            </a:r>
            <a:r>
              <a:rPr dirty="0" sz="3350" spc="135">
                <a:latin typeface="Cambria"/>
                <a:cs typeface="Cambria"/>
              </a:rPr>
              <a:t>hyper-</a:t>
            </a:r>
            <a:r>
              <a:rPr dirty="0" sz="3350" spc="70">
                <a:latin typeface="Cambria"/>
                <a:cs typeface="Cambria"/>
              </a:rPr>
              <a:t>personalization</a:t>
            </a:r>
            <a:r>
              <a:rPr dirty="0" sz="3350" spc="114">
                <a:latin typeface="Cambria"/>
                <a:cs typeface="Cambria"/>
              </a:rPr>
              <a:t> </a:t>
            </a:r>
            <a:r>
              <a:rPr dirty="0" sz="3350" spc="75">
                <a:latin typeface="Cambria"/>
                <a:cs typeface="Cambria"/>
              </a:rPr>
              <a:t>models</a:t>
            </a:r>
            <a:endParaRPr sz="3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6" y="4514764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74" y="1871571"/>
            <a:ext cx="10943590" cy="25800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750" spc="484" b="0">
                <a:solidFill>
                  <a:srgbClr val="2A2B2F"/>
                </a:solidFill>
                <a:latin typeface="Cambria"/>
                <a:cs typeface="Cambria"/>
              </a:rPr>
              <a:t>Thank</a:t>
            </a:r>
            <a:r>
              <a:rPr dirty="0" sz="16750" spc="665" b="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16750" spc="185" b="0">
                <a:solidFill>
                  <a:srgbClr val="2A2B2F"/>
                </a:solidFill>
                <a:latin typeface="Cambria"/>
                <a:cs typeface="Cambria"/>
              </a:rPr>
              <a:t>You!</a:t>
            </a:r>
            <a:endParaRPr sz="16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 MEGHANA</dc:creator>
  <cp:keywords>DAG_GeELNIo,BAG0Yh9dNLw,0</cp:keywords>
  <dc:title>Cream Neutral Minimalist New Business Pitch Deck Presentation</dc:title>
  <dcterms:created xsi:type="dcterms:W3CDTF">2026-01-22T12:29:21Z</dcterms:created>
  <dcterms:modified xsi:type="dcterms:W3CDTF">2026-01-22T12:29:21Z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2026-01-22T00:00:00Z</vt:filetime>
  </property>
  <property fmtid="{D5CDD505-2E9C-101B-9397-08002B2CF9AE}" pid="3" name="Creator">
    <vt:lpwstr>Canva</vt:lpwstr>
  </property>
  <property fmtid="{D5CDD505-2E9C-101B-9397-08002B2CF9AE}" pid="4" name="LastSaved">
    <vt:filetime>2026-01-22T00:00:00Z</vt:filetime>
  </property>
  <property fmtid="{D5CDD505-2E9C-101B-9397-08002B2CF9AE}" pid="5" name="Producer">
    <vt:lpwstr>Canva</vt:lpwstr>
  </property>
</Properties>
</file>